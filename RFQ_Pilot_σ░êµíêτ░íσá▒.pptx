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46BFE"/>
                </a:solidFill>
                <a:latin typeface="Noto Sans CJK TC"/>
              </a:rPr>
              <a:t>B2B 詢報價自動化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42033"/>
                </a:solidFill>
                <a:latin typeface="Noto Sans CJK TC"/>
              </a:rPr>
              <a:t>RFQ Pilot：把詢價信變成報價草稿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432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68758B"/>
                </a:solidFill>
                <a:latin typeface="Noto Sans CJK TC"/>
              </a:rPr>
              <a:t>給貿易商、零件廠、模具廠的 AI 業助副駕。AI 先整理，人再確認。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977639"/>
            <a:ext cx="4389120" cy="411480"/>
          </a:xfrm>
          <a:prstGeom prst="roundRect">
            <a:avLst/>
          </a:prstGeom>
          <a:solidFill>
            <a:srgbClr val="E8F0FF"/>
          </a:solidFill>
          <a:ln>
            <a:solidFill>
              <a:srgbClr val="C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46BFE"/>
                </a:solidFill>
                <a:latin typeface="Noto Sans CJK TC"/>
              </a:defRPr>
            </a:pPr>
            <a:r>
              <a:t>Email → BOM → 料號 → ERP → 報價草稿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" y="438912"/>
            <a:ext cx="438912" cy="384048"/>
          </a:xfrm>
          <a:prstGeom prst="roundRect">
            <a:avLst/>
          </a:prstGeom>
          <a:solidFill>
            <a:srgbClr val="0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Noto Sans CJK TC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11480"/>
            <a:ext cx="9784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033"/>
                </a:solidFill>
                <a:latin typeface="Noto Sans CJK TC"/>
              </a:rPr>
              <a:t>定位與痛點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32104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一句話：把混亂詢價自動整理成可確認的報價草稿。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747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45919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現在的問題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11680"/>
            <a:ext cx="314553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國外客戶寄 Email、Excel、PDF。業助要手動讀信、查料號、查成本、做報價。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45720" cy="2743200"/>
          </a:xfrm>
          <a:prstGeom prst="rect">
            <a:avLst/>
          </a:prstGeom>
          <a:solidFill>
            <a:srgbClr val="D63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747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645919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為什麼痛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11680"/>
            <a:ext cx="314553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每筆 1–3 小時，但很多詢價不會成交。人力浪費在前置整理。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508760"/>
            <a:ext cx="45720" cy="2743200"/>
          </a:xfrm>
          <a:prstGeom prst="rect">
            <a:avLst/>
          </a:prstGeom>
          <a:solidFill>
            <a:srgbClr val="B9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4747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645919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產品角色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011680"/>
            <a:ext cx="314553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AI 不是取代業助，而是先整理 80%，讓人只確認高風險項目。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508760"/>
            <a:ext cx="45720" cy="2743200"/>
          </a:xfrm>
          <a:prstGeom prst="rect">
            <a:avLst/>
          </a:prstGeom>
          <a:solidFill>
            <a:srgbClr val="246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" y="438912"/>
            <a:ext cx="438912" cy="384048"/>
          </a:xfrm>
          <a:prstGeom prst="roundRect">
            <a:avLst/>
          </a:prstGeom>
          <a:solidFill>
            <a:srgbClr val="0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Noto Sans CJK TC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11480"/>
            <a:ext cx="9784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033"/>
                </a:solidFill>
                <a:latin typeface="Noto Sans CJK TC"/>
              </a:rPr>
              <a:t>誰最需要？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32104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最痛的是 RFQ 多、料號多、出口多的中小製造業。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45919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貿易商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309981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每天收到很多國外詢價，成交率不一定高。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45720" cy="2743200"/>
          </a:xfrm>
          <a:prstGeom prst="rect">
            <a:avLst/>
          </a:prstGeom>
          <a:solidFill>
            <a:srgbClr val="246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508760"/>
            <a:ext cx="34290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1645919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零組件廠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011680"/>
            <a:ext cx="309981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料號、規格、成本資料多，查找很花時間。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508760"/>
            <a:ext cx="45720" cy="2743200"/>
          </a:xfrm>
          <a:prstGeom prst="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1508760"/>
            <a:ext cx="34290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645919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模具 / 加工廠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2011680"/>
            <a:ext cx="309981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報價流程牽涉工程、材料、交期，人工溝通多。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508760"/>
            <a:ext cx="45720" cy="2743200"/>
          </a:xfrm>
          <a:prstGeom prst="rect">
            <a:avLst/>
          </a:prstGeom>
          <a:solidFill>
            <a:srgbClr val="B9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" y="438912"/>
            <a:ext cx="438912" cy="384048"/>
          </a:xfrm>
          <a:prstGeom prst="roundRect">
            <a:avLst/>
          </a:prstGeom>
          <a:solidFill>
            <a:srgbClr val="0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Noto Sans CJK TC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11480"/>
            <a:ext cx="9784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033"/>
                </a:solidFill>
                <a:latin typeface="Noto Sans CJK TC"/>
              </a:rPr>
              <a:t>怎麼解決？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32104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把 RFQ 拆成安全、可追蹤的幾個步驟。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40280"/>
            <a:ext cx="12344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033"/>
                </a:solidFill>
                <a:latin typeface="Noto Sans CJK TC"/>
              </a:defRPr>
            </a:pPr>
            <a:r>
              <a:t>收信</a:t>
            </a:r>
          </a:p>
          <a:p>
            <a:pPr algn="ctr">
              <a:defRPr sz="800">
                <a:solidFill>
                  <a:srgbClr val="68758B"/>
                </a:solidFill>
                <a:latin typeface="Noto Sans CJK TC"/>
              </a:defRPr>
            </a:pPr>
            <a:r>
              <a:t>Email/附件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2642616"/>
            <a:ext cx="411480" cy="0"/>
          </a:xfrm>
          <a:prstGeom prst="line">
            <a:avLst/>
          </a:prstGeom>
          <a:ln w="19050">
            <a:solidFill>
              <a:srgbClr val="96A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40280" y="2240280"/>
            <a:ext cx="12344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033"/>
                </a:solidFill>
                <a:latin typeface="Noto Sans CJK TC"/>
              </a:defRPr>
            </a:pPr>
            <a:r>
              <a:t>解析</a:t>
            </a:r>
          </a:p>
          <a:p>
            <a:pPr algn="ctr">
              <a:defRPr sz="800">
                <a:solidFill>
                  <a:srgbClr val="68758B"/>
                </a:solidFill>
                <a:latin typeface="Noto Sans CJK TC"/>
              </a:defRPr>
            </a:pPr>
            <a:r>
              <a:t>Excel/PDF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0" y="2642616"/>
            <a:ext cx="411480" cy="0"/>
          </a:xfrm>
          <a:prstGeom prst="line">
            <a:avLst/>
          </a:prstGeom>
          <a:ln w="19050">
            <a:solidFill>
              <a:srgbClr val="96A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2240280"/>
            <a:ext cx="12344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033"/>
                </a:solidFill>
                <a:latin typeface="Noto Sans CJK TC"/>
              </a:defRPr>
            </a:pPr>
            <a:r>
              <a:t>抽欄位</a:t>
            </a:r>
          </a:p>
          <a:p>
            <a:pPr algn="ctr">
              <a:defRPr sz="800">
                <a:solidFill>
                  <a:srgbClr val="68758B"/>
                </a:solidFill>
                <a:latin typeface="Noto Sans CJK TC"/>
              </a:defRPr>
            </a:pPr>
            <a:r>
              <a:t>AI 讀懂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20640" y="2642616"/>
            <a:ext cx="411480" cy="0"/>
          </a:xfrm>
          <a:prstGeom prst="line">
            <a:avLst/>
          </a:prstGeom>
          <a:ln w="19050">
            <a:solidFill>
              <a:srgbClr val="96A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32120" y="2240280"/>
            <a:ext cx="12344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18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033"/>
                </a:solidFill>
                <a:latin typeface="Noto Sans CJK TC"/>
              </a:defRPr>
            </a:pPr>
            <a:r>
              <a:t>查料號</a:t>
            </a:r>
          </a:p>
          <a:p>
            <a:pPr algn="ctr">
              <a:defRPr sz="800">
                <a:solidFill>
                  <a:srgbClr val="68758B"/>
                </a:solidFill>
                <a:latin typeface="Noto Sans CJK TC"/>
              </a:defRPr>
            </a:pPr>
            <a:r>
              <a:t>比對產品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66560" y="2642616"/>
            <a:ext cx="411480" cy="0"/>
          </a:xfrm>
          <a:prstGeom prst="line">
            <a:avLst/>
          </a:prstGeom>
          <a:ln w="19050">
            <a:solidFill>
              <a:srgbClr val="96A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178040" y="2240280"/>
            <a:ext cx="12344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18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033"/>
                </a:solidFill>
                <a:latin typeface="Noto Sans CJK TC"/>
              </a:defRPr>
            </a:pPr>
            <a:r>
              <a:t>查 ERP</a:t>
            </a:r>
          </a:p>
          <a:p>
            <a:pPr algn="ctr">
              <a:defRPr sz="800">
                <a:solidFill>
                  <a:srgbClr val="68758B"/>
                </a:solidFill>
                <a:latin typeface="Noto Sans CJK TC"/>
              </a:defRPr>
            </a:pPr>
            <a:r>
              <a:t>成本庫存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12480" y="2642616"/>
            <a:ext cx="411480" cy="0"/>
          </a:xfrm>
          <a:prstGeom prst="line">
            <a:avLst/>
          </a:prstGeom>
          <a:ln w="19050">
            <a:solidFill>
              <a:srgbClr val="96A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23960" y="2240280"/>
            <a:ext cx="12344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B9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033"/>
                </a:solidFill>
                <a:latin typeface="Noto Sans CJK TC"/>
              </a:defRPr>
            </a:pPr>
            <a:r>
              <a:t>套規則</a:t>
            </a:r>
          </a:p>
          <a:p>
            <a:pPr algn="ctr">
              <a:defRPr sz="800">
                <a:solidFill>
                  <a:srgbClr val="68758B"/>
                </a:solidFill>
                <a:latin typeface="Noto Sans CJK TC"/>
              </a:defRPr>
            </a:pPr>
            <a:r>
              <a:t>毛利風險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58400" y="2642616"/>
            <a:ext cx="411480" cy="0"/>
          </a:xfrm>
          <a:prstGeom prst="line">
            <a:avLst/>
          </a:prstGeom>
          <a:ln w="19050">
            <a:solidFill>
              <a:srgbClr val="96A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469880" y="2240280"/>
            <a:ext cx="12344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63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033"/>
                </a:solidFill>
                <a:latin typeface="Noto Sans CJK TC"/>
              </a:defRPr>
            </a:pPr>
            <a:r>
              <a:t>人確認</a:t>
            </a:r>
          </a:p>
          <a:p>
            <a:pPr algn="ctr">
              <a:defRPr sz="800">
                <a:solidFill>
                  <a:srgbClr val="68758B"/>
                </a:solidFill>
                <a:latin typeface="Noto Sans CJK TC"/>
              </a:defRPr>
            </a:pPr>
            <a:r>
              <a:t>草稿完成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77639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2033"/>
                </a:solidFill>
                <a:latin typeface="Noto Sans CJK TC"/>
              </a:rPr>
              <a:t>比喻：AI 像讀信助理；ERP 像倉庫帳本；規則引擎像報價守門員。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" y="438912"/>
            <a:ext cx="438912" cy="384048"/>
          </a:xfrm>
          <a:prstGeom prst="roundRect">
            <a:avLst/>
          </a:prstGeom>
          <a:solidFill>
            <a:srgbClr val="0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Noto Sans CJK TC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11480"/>
            <a:ext cx="9784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033"/>
                </a:solidFill>
                <a:latin typeface="Noto Sans CJK TC"/>
              </a:rPr>
              <a:t>最小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32104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第一版只做最容易落地、最能證明省時間的部分。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08760"/>
            <a:ext cx="4882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第一版要做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4882896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Email + Excel BOM</a:t>
            </a:r>
            <a:br/>
            <a:r>
              <a:t>欄位抽取</a:t>
            </a:r>
            <a:br/>
            <a:r>
              <a:t>料號 Exact / Fuzzy / No Match</a:t>
            </a:r>
            <a:br/>
            <a:r>
              <a:t>查成本、庫存、MOQ、交期</a:t>
            </a:r>
            <a:br/>
            <a:r>
              <a:t>報價草稿 + 人工覆核</a:t>
            </a:r>
            <a:br/>
            <a:r>
              <a:t>ROI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5720" cy="4023360"/>
          </a:xfrm>
          <a:prstGeom prst="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508760"/>
            <a:ext cx="4882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第一版不要做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874519"/>
            <a:ext cx="4882896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CAD 工程圖全面辨識</a:t>
            </a:r>
            <a:br/>
            <a:r>
              <a:t>手機照片高準確解析</a:t>
            </a:r>
            <a:br/>
            <a:r>
              <a:t>全自動寄正式報價</a:t>
            </a:r>
            <a:br/>
            <a:r>
              <a:t>所有 ERP 都串接</a:t>
            </a:r>
            <a:br/>
            <a:r>
              <a:t>所有產業都支援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45720" cy="4023360"/>
          </a:xfrm>
          <a:prstGeom prst="rect">
            <a:avLst/>
          </a:prstGeom>
          <a:solidFill>
            <a:srgbClr val="D63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" y="438912"/>
            <a:ext cx="438912" cy="384048"/>
          </a:xfrm>
          <a:prstGeom prst="roundRect">
            <a:avLst/>
          </a:prstGeom>
          <a:solidFill>
            <a:srgbClr val="0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Noto Sans CJK TC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11480"/>
            <a:ext cx="9784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033"/>
                </a:solidFill>
                <a:latin typeface="Noto Sans CJK TC"/>
              </a:rPr>
              <a:t>產品功能全景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32104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完整產品不是聊天機器人，而是一套 RFQ 工作系統。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7160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RFQ Inbox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37360"/>
            <a:ext cx="305409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集中收件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45720" cy="1051560"/>
          </a:xfrm>
          <a:prstGeom prst="rect">
            <a:avLst/>
          </a:prstGeom>
          <a:solidFill>
            <a:srgbClr val="246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123444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37160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文件解析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1737360"/>
            <a:ext cx="305409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讀 Email/Excel/PDF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234440"/>
            <a:ext cx="45720" cy="1051560"/>
          </a:xfrm>
          <a:prstGeom prst="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75320" y="123444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137160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料號匹配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1737360"/>
            <a:ext cx="305409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避免 AI 亂猜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234440"/>
            <a:ext cx="45720" cy="1051560"/>
          </a:xfrm>
          <a:prstGeom prst="rect">
            <a:avLst/>
          </a:prstGeom>
          <a:solidFill>
            <a:srgbClr val="B9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265176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278892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ERP 查詢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154680"/>
            <a:ext cx="305409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成本庫存交期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651760"/>
            <a:ext cx="45720" cy="1051560"/>
          </a:xfrm>
          <a:prstGeom prst="rect">
            <a:avLst/>
          </a:prstGeom>
          <a:solidFill>
            <a:srgbClr val="246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80560" y="265176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2" y="278892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報價規則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3154680"/>
            <a:ext cx="305409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毛利/風險/核准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2651760"/>
            <a:ext cx="45720" cy="1051560"/>
          </a:xfrm>
          <a:prstGeom prst="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75320" y="265176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912" y="278892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人工覆核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2" y="3154680"/>
            <a:ext cx="305409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業助確認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2651760"/>
            <a:ext cx="45720" cy="1051560"/>
          </a:xfrm>
          <a:prstGeom prst="rect">
            <a:avLst/>
          </a:prstGeom>
          <a:solidFill>
            <a:srgbClr val="B9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5800" y="406908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420624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版本追蹤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4572000"/>
            <a:ext cx="305409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Rev.A/Rev.B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069080"/>
            <a:ext cx="45720" cy="1051560"/>
          </a:xfrm>
          <a:prstGeom prst="rect">
            <a:avLst/>
          </a:prstGeom>
          <a:solidFill>
            <a:srgbClr val="246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80560" y="406908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5152" y="420624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稽核紀錄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2" y="4572000"/>
            <a:ext cx="305409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來源可追查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4069080"/>
            <a:ext cx="45720" cy="1051560"/>
          </a:xfrm>
          <a:prstGeom prst="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75320" y="406908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9912" y="420624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ROI 儀表板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9912" y="4572000"/>
            <a:ext cx="305409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看省多少時間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4069080"/>
            <a:ext cx="45720" cy="1051560"/>
          </a:xfrm>
          <a:prstGeom prst="rect">
            <a:avLst/>
          </a:prstGeom>
          <a:solidFill>
            <a:srgbClr val="B9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" y="438912"/>
            <a:ext cx="438912" cy="384048"/>
          </a:xfrm>
          <a:prstGeom prst="roundRect">
            <a:avLst/>
          </a:prstGeom>
          <a:solidFill>
            <a:srgbClr val="0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Noto Sans CJK TC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11480"/>
            <a:ext cx="9784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033"/>
                </a:solidFill>
                <a:latin typeface="Noto Sans CJK TC"/>
              </a:rPr>
              <a:t>2026 可用技術方向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32104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每層都可替換，依客戶環境選擇。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收件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32588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8758B"/>
                </a:solidFill>
                <a:latin typeface="Noto Sans CJK TC"/>
              </a:rPr>
              <a:t>Microsoft Graph / Gmail API / IMAP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文件解析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0312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8758B"/>
                </a:solidFill>
                <a:latin typeface="Noto Sans CJK TC"/>
              </a:rPr>
              <a:t>Azure Document Intelligence / Google Document AI / Unstructured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AI 抽欄位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88036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8758B"/>
                </a:solidFill>
                <a:latin typeface="Noto Sans CJK TC"/>
              </a:rPr>
              <a:t>OpenAI / Claude / Gemini / 自架模型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搜尋匹配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65760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8758B"/>
                </a:solidFill>
                <a:latin typeface="Noto Sans CJK TC"/>
              </a:rPr>
              <a:t>PostgreSQL+pgvector / Qdrant / Pinecone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流程與監控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43484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8758B"/>
                </a:solidFill>
                <a:latin typeface="Noto Sans CJK TC"/>
              </a:rPr>
              <a:t>Temporal / n8n / Langfuse / OpenLIT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" y="438912"/>
            <a:ext cx="438912" cy="384048"/>
          </a:xfrm>
          <a:prstGeom prst="roundRect">
            <a:avLst/>
          </a:prstGeom>
          <a:solidFill>
            <a:srgbClr val="0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Noto Sans CJK TC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11480"/>
            <a:ext cx="9784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033"/>
                </a:solidFill>
                <a:latin typeface="Noto Sans CJK TC"/>
              </a:rPr>
              <a:t>商業模式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32104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用「省下的工時」說服客戶付費。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63039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SaaS 月費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28800"/>
            <a:ext cx="305409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Starter：1.5 萬/月</a:t>
            </a:r>
            <a:br/>
            <a:r>
              <a:t>Pro：3.5 萬/月</a:t>
            </a:r>
            <a:br/>
            <a:r>
              <a:t>Enterprise：客製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45720" cy="3474720"/>
          </a:xfrm>
          <a:prstGeom prst="rect">
            <a:avLst/>
          </a:prstGeom>
          <a:solidFill>
            <a:srgbClr val="246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463039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導入費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828800"/>
            <a:ext cx="305409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10–30 萬</a:t>
            </a:r>
            <a:br/>
            <a:r>
              <a:t>料號庫整理</a:t>
            </a:r>
            <a:br/>
            <a:r>
              <a:t>ERP / Excel 串接</a:t>
            </a:r>
            <a:br/>
            <a:r>
              <a:t>流程設定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325880"/>
            <a:ext cx="45720" cy="3474720"/>
          </a:xfrm>
          <a:prstGeom prst="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463039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加值收入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828800"/>
            <a:ext cx="305409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超量 RFQ</a:t>
            </a:r>
            <a:br/>
            <a:r>
              <a:t>客製 Workflow</a:t>
            </a:r>
            <a:br/>
            <a:r>
              <a:t>私有部署</a:t>
            </a:r>
            <a:br/>
            <a:r>
              <a:t>專屬模型/規則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325880"/>
            <a:ext cx="45720" cy="3474720"/>
          </a:xfrm>
          <a:prstGeom prst="rect">
            <a:avLst/>
          </a:prstGeom>
          <a:solidFill>
            <a:srgbClr val="B9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" y="438912"/>
            <a:ext cx="438912" cy="384048"/>
          </a:xfrm>
          <a:prstGeom prst="roundRect">
            <a:avLst/>
          </a:prstGeom>
          <a:solidFill>
            <a:srgbClr val="0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Noto Sans CJK TC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11480"/>
            <a:ext cx="9784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033"/>
                </a:solidFill>
                <a:latin typeface="Noto Sans CJK TC"/>
              </a:rPr>
              <a:t>12 週專案時程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32104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第 8 週要能跑真實 RFQ，第 12 週可做付費試點。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2344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8758B"/>
                </a:solidFill>
                <a:latin typeface="Noto Sans CJK T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0048" y="12344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8758B"/>
                </a:solidFill>
                <a:latin typeface="Noto Sans CJK T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8416" y="12344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8758B"/>
                </a:solidFill>
                <a:latin typeface="Noto Sans CJK TC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6784" y="12344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8758B"/>
                </a:solidFill>
                <a:latin typeface="Noto Sans CJK TC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12344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8758B"/>
                </a:solidFill>
                <a:latin typeface="Noto Sans CJK TC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2344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8758B"/>
                </a:solidFill>
                <a:latin typeface="Noto Sans CJK TC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12344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8758B"/>
                </a:solidFill>
                <a:latin typeface="Noto Sans CJK TC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256" y="12344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8758B"/>
                </a:solidFill>
                <a:latin typeface="Noto Sans CJK TC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8624" y="12344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8758B"/>
                </a:solidFill>
                <a:latin typeface="Noto Sans CJK TC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12344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8758B"/>
                </a:solidFill>
                <a:latin typeface="Noto Sans CJK TC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12344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8758B"/>
                </a:solidFill>
                <a:latin typeface="Noto Sans CJK TC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12344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8758B"/>
                </a:solidFill>
                <a:latin typeface="Noto Sans CJK TC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69164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033"/>
                </a:solidFill>
                <a:latin typeface="Noto Sans CJK TC"/>
              </a:rPr>
              <a:t>需求確認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1664208"/>
            <a:ext cx="1271016" cy="310896"/>
          </a:xfrm>
          <a:prstGeom prst="roundRect">
            <a:avLst/>
          </a:prstGeom>
          <a:solidFill>
            <a:srgbClr val="246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2860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033"/>
                </a:solidFill>
                <a:latin typeface="Noto Sans CJK TC"/>
              </a:rPr>
              <a:t>解析抽欄位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28416" y="2258568"/>
            <a:ext cx="1271016" cy="310896"/>
          </a:xfrm>
          <a:prstGeom prst="roundRect">
            <a:avLst/>
          </a:prstGeom>
          <a:solidFill>
            <a:srgbClr val="246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88036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033"/>
                </a:solidFill>
                <a:latin typeface="Noto Sans CJK TC"/>
              </a:rPr>
              <a:t>料號/ERP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45152" y="2852928"/>
            <a:ext cx="1271016" cy="310896"/>
          </a:xfrm>
          <a:prstGeom prst="round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4747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033"/>
                </a:solidFill>
                <a:latin typeface="Noto Sans CJK TC"/>
              </a:rPr>
              <a:t>報價草稿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3447288"/>
            <a:ext cx="1271016" cy="310896"/>
          </a:xfrm>
          <a:prstGeom prst="round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069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033"/>
                </a:solidFill>
                <a:latin typeface="Noto Sans CJK TC"/>
              </a:rPr>
              <a:t>覆核/ROI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78624" y="4041648"/>
            <a:ext cx="1271016" cy="310896"/>
          </a:xfrm>
          <a:prstGeom prst="roundRect">
            <a:avLst/>
          </a:prstGeom>
          <a:solidFill>
            <a:srgbClr val="B9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66344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033"/>
                </a:solidFill>
                <a:latin typeface="Noto Sans CJK TC"/>
              </a:rPr>
              <a:t>Pilot 修正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59" y="4636007"/>
            <a:ext cx="1271016" cy="310896"/>
          </a:xfrm>
          <a:prstGeom prst="roundRect">
            <a:avLst/>
          </a:prstGeom>
          <a:solidFill>
            <a:srgbClr val="D63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" y="438912"/>
            <a:ext cx="438912" cy="384048"/>
          </a:xfrm>
          <a:prstGeom prst="roundRect">
            <a:avLst/>
          </a:prstGeom>
          <a:solidFill>
            <a:srgbClr val="0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Noto Sans CJK TC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11480"/>
            <a:ext cx="9784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033"/>
                </a:solidFill>
                <a:latin typeface="Noto Sans CJK TC"/>
              </a:rPr>
              <a:t>人力配置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32104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MVP 可以小團隊啟動，Pilot 後補 QA / 導入。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5603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63039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AI / Backend 1 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28800"/>
            <a:ext cx="2231136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LLM、Parser、料號匹配、ERP、規則引擎。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45720" cy="3200400"/>
          </a:xfrm>
          <a:prstGeom prst="rect">
            <a:avLst/>
          </a:prstGeom>
          <a:solidFill>
            <a:srgbClr val="246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1325880"/>
            <a:ext cx="25603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1463039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Frontend 1 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1828800"/>
            <a:ext cx="2231136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RFQ Inbox、覆核畫面、Dashboard。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325880"/>
            <a:ext cx="45720" cy="3200400"/>
          </a:xfrm>
          <a:prstGeom prst="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325880"/>
            <a:ext cx="25603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463039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產品 / 產業 0.5–1 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1828800"/>
            <a:ext cx="2231136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訪談、規則、測試案例、導入。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325880"/>
            <a:ext cx="45720" cy="3200400"/>
          </a:xfrm>
          <a:prstGeom prst="rect">
            <a:avLst/>
          </a:prstGeom>
          <a:solidFill>
            <a:srgbClr val="B9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35440" y="1325880"/>
            <a:ext cx="2194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1463039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QA / 導入 0.5 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1828800"/>
            <a:ext cx="1865376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第 9 週後加入，測真實 RFQ。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325880"/>
            <a:ext cx="45720" cy="3200400"/>
          </a:xfrm>
          <a:prstGeom prst="rect">
            <a:avLst/>
          </a:prstGeom>
          <a:solidFill>
            <a:srgbClr val="D63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" y="438912"/>
            <a:ext cx="438912" cy="384048"/>
          </a:xfrm>
          <a:prstGeom prst="roundRect">
            <a:avLst/>
          </a:prstGeom>
          <a:solidFill>
            <a:srgbClr val="0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Noto Sans CJK TC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11480"/>
            <a:ext cx="9784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033"/>
                </a:solidFill>
                <a:latin typeface="Noto Sans CJK TC"/>
              </a:rPr>
              <a:t>產品願景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32104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從報價草稿，走向製造業的 AI 工作流平台。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3375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54480"/>
            <a:ext cx="3008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第 1 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920240"/>
            <a:ext cx="300837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專注單一產業，先把 Email + Excel RFQ 做穩。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17320"/>
            <a:ext cx="45720" cy="2926080"/>
          </a:xfrm>
          <a:prstGeom prst="rect">
            <a:avLst/>
          </a:prstGeom>
          <a:solidFill>
            <a:srgbClr val="246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554480"/>
            <a:ext cx="3008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第 2 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920240"/>
            <a:ext cx="300837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支援更多 ERP、更多產業模板、更多報價規則。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417320"/>
            <a:ext cx="45720" cy="2926080"/>
          </a:xfrm>
          <a:prstGeom prst="rect">
            <a:avLst/>
          </a:prstGeom>
          <a:solidFill>
            <a:srgbClr val="18A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3375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554480"/>
            <a:ext cx="3008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33"/>
                </a:solidFill>
                <a:latin typeface="Noto Sans CJK TC"/>
              </a:rPr>
              <a:t>第 3 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1920240"/>
            <a:ext cx="300837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8758B"/>
                </a:solidFill>
                <a:latin typeface="Noto Sans CJK TC"/>
              </a:rPr>
              <a:t>成為製造業 RFQ / 報價 / 客戶資料的 AI 作業平台。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417320"/>
            <a:ext cx="45720" cy="2926080"/>
          </a:xfrm>
          <a:prstGeom prst="rect">
            <a:avLst/>
          </a:prstGeom>
          <a:solidFill>
            <a:srgbClr val="B9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42033"/>
                </a:solidFill>
                <a:latin typeface="Noto Sans CJK TC"/>
              </a:rPr>
              <a:t>最重要的產品原則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10312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46BFE"/>
                </a:solidFill>
                <a:latin typeface="Noto Sans CJK TC"/>
              </a:rPr>
              <a:t>AI 可以幫忙整理，但正式報價一定要可追溯、可檢查、可由人確認。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79476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2033"/>
                </a:solidFill>
                <a:latin typeface="Noto Sans CJK TC"/>
              </a:rPr>
              <a:t>先做窄、做準、做穩，再擴大。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