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530352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377DFF"/>
                </a:solidFill>
              </a:rPr>
              <a:t>RFQ Pilot</a:t>
            </a:r>
            <a:endParaRPr lang="en-US" sz="1700" dirty="0"/>
          </a:p>
        </p:txBody>
      </p:sp>
      <p:sp>
        <p:nvSpPr>
          <p:cNvPr id="3" name="Text 1"/>
          <p:cNvSpPr/>
          <p:nvPr/>
        </p:nvSpPr>
        <p:spPr>
          <a:xfrm>
            <a:off x="594360" y="1078992"/>
            <a:ext cx="10789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162033"/>
                </a:solidFill>
              </a:rPr>
              <a:t>B2B 詢報價自動化 Agent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21792" y="1847088"/>
            <a:ext cx="9875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68768A"/>
                </a:solidFill>
              </a:rPr>
              <a:t>把國外客戶的詢價信、Excel BOM、PDF，自動整理成可審核的報價草稿。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487168"/>
            <a:ext cx="1463040" cy="256032"/>
          </a:xfrm>
          <a:prstGeom prst="roundRect">
            <a:avLst>
              <a:gd name="adj" fmla="val 21429"/>
            </a:avLst>
          </a:prstGeom>
          <a:solidFill>
            <a:srgbClr val="EAF2FF"/>
          </a:solidFill>
          <a:ln w="12700">
            <a:solidFill>
              <a:srgbClr val="EAF2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13232" y="2551176"/>
            <a:ext cx="1316736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b="1" dirty="0">
                <a:solidFill>
                  <a:srgbClr val="377DFF"/>
                </a:solidFill>
              </a:rPr>
              <a:t>RFQ = 詢價需求</a:t>
            </a:r>
            <a:endParaRPr lang="en-US" sz="750" dirty="0"/>
          </a:p>
        </p:txBody>
      </p:sp>
      <p:sp>
        <p:nvSpPr>
          <p:cNvPr id="7" name="Shape 5"/>
          <p:cNvSpPr/>
          <p:nvPr/>
        </p:nvSpPr>
        <p:spPr>
          <a:xfrm>
            <a:off x="2240280" y="2487168"/>
            <a:ext cx="1508760" cy="256032"/>
          </a:xfrm>
          <a:prstGeom prst="roundRect">
            <a:avLst>
              <a:gd name="adj" fmla="val 21429"/>
            </a:avLst>
          </a:prstGeom>
          <a:solidFill>
            <a:srgbClr val="EAF8F2"/>
          </a:solidFill>
          <a:ln w="12700">
            <a:solidFill>
              <a:srgbClr val="EAF8F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313432" y="2551176"/>
            <a:ext cx="1362456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b="1" dirty="0">
                <a:solidFill>
                  <a:srgbClr val="23996B"/>
                </a:solidFill>
              </a:rPr>
              <a:t>BOM = 物料清單</a:t>
            </a:r>
            <a:endParaRPr lang="en-US" sz="750" dirty="0"/>
          </a:p>
        </p:txBody>
      </p:sp>
      <p:sp>
        <p:nvSpPr>
          <p:cNvPr id="9" name="Shape 7"/>
          <p:cNvSpPr/>
          <p:nvPr/>
        </p:nvSpPr>
        <p:spPr>
          <a:xfrm>
            <a:off x="3886200" y="2487168"/>
            <a:ext cx="1417320" cy="256032"/>
          </a:xfrm>
          <a:prstGeom prst="roundRect">
            <a:avLst>
              <a:gd name="adj" fmla="val 21429"/>
            </a:avLst>
          </a:prstGeom>
          <a:solidFill>
            <a:srgbClr val="EAF2FF"/>
          </a:solidFill>
          <a:ln w="12700">
            <a:solidFill>
              <a:srgbClr val="EAF2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959352" y="2551176"/>
            <a:ext cx="1271016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b="1" dirty="0">
                <a:solidFill>
                  <a:srgbClr val="377DFF"/>
                </a:solidFill>
              </a:rPr>
              <a:t>Agent = AI 助手</a:t>
            </a:r>
            <a:endParaRPr lang="en-US" sz="750" dirty="0"/>
          </a:p>
        </p:txBody>
      </p:sp>
      <p:sp>
        <p:nvSpPr>
          <p:cNvPr id="11" name="Shape 9"/>
          <p:cNvSpPr/>
          <p:nvPr/>
        </p:nvSpPr>
        <p:spPr>
          <a:xfrm>
            <a:off x="5440680" y="2487168"/>
            <a:ext cx="2011680" cy="256032"/>
          </a:xfrm>
          <a:prstGeom prst="roundRect">
            <a:avLst>
              <a:gd name="adj" fmla="val 21429"/>
            </a:avLst>
          </a:prstGeom>
          <a:solidFill>
            <a:srgbClr val="FFF7DF"/>
          </a:solidFill>
          <a:ln w="12700">
            <a:solidFill>
              <a:srgbClr val="FFF7D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513832" y="2551176"/>
            <a:ext cx="1865376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b="1" dirty="0">
                <a:solidFill>
                  <a:srgbClr val="A96F0A"/>
                </a:solidFill>
              </a:rPr>
              <a:t>MVP = 第一版可用產品</a:t>
            </a:r>
            <a:endParaRPr lang="en-US" sz="750" dirty="0"/>
          </a:p>
        </p:txBody>
      </p:sp>
      <p:sp>
        <p:nvSpPr>
          <p:cNvPr id="13" name="Shape 11"/>
          <p:cNvSpPr/>
          <p:nvPr/>
        </p:nvSpPr>
        <p:spPr>
          <a:xfrm>
            <a:off x="640080" y="3154680"/>
            <a:ext cx="3429000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12700">
            <a:solidFill>
              <a:srgbClr val="DDE6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41248" y="3319272"/>
            <a:ext cx="302666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162033"/>
                </a:solidFill>
              </a:rPr>
              <a:t>一句話定位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841248" y="3630168"/>
            <a:ext cx="3026664" cy="7040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8768A"/>
                </a:solidFill>
              </a:rPr>
              <a:t>業助的 AI 副駕：先幫忙整理、查資料、做草稿，最後仍由人確認。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4389120" y="3154680"/>
            <a:ext cx="3429000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12700">
            <a:solidFill>
              <a:srgbClr val="DDE6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90288" y="3319272"/>
            <a:ext cx="302666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162033"/>
                </a:solidFill>
              </a:rPr>
              <a:t>第一版目標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590288" y="3630168"/>
            <a:ext cx="3026664" cy="7040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8768A"/>
                </a:solidFill>
              </a:rPr>
              <a:t>把每筆 1–3 小時的詢價整理，壓到約 10–20 分鐘。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8138160" y="3154680"/>
            <a:ext cx="3429000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12700">
            <a:solidFill>
              <a:srgbClr val="DDE6F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339328" y="3319272"/>
            <a:ext cx="302666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162033"/>
                </a:solidFill>
              </a:rPr>
              <a:t>產品原則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8339328" y="3630168"/>
            <a:ext cx="3026664" cy="7040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8768A"/>
                </a:solidFill>
              </a:rPr>
              <a:t>AI 不直接定價；成本與料號以公司資料庫 / ERP 為準。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9921240" y="6473952"/>
            <a:ext cx="1554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8A98AA"/>
                </a:solidFill>
              </a:rPr>
              <a:t>RFQ Pilot｜1/12</a:t>
            </a:r>
            <a:endParaRPr lang="en-US" sz="7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29184"/>
            <a:ext cx="1097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377DFF"/>
                </a:solidFill>
              </a:rPr>
              <a:t>02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594360" y="594360"/>
            <a:ext cx="10698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62033"/>
                </a:solidFill>
              </a:rPr>
              <a:t>痛點與客戶群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621792" y="1097280"/>
            <a:ext cx="10607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68768A"/>
                </a:solidFill>
              </a:rPr>
              <a:t>市場需要它，因為大量時間花在低成交率、重複性高的詢價整理上。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9921240" y="6473952"/>
            <a:ext cx="1554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8A98AA"/>
                </a:solidFill>
              </a:rPr>
              <a:t>RFQ Pilot｜2/12</a:t>
            </a:r>
            <a:endParaRPr lang="en-US" sz="700" dirty="0"/>
          </a:p>
        </p:txBody>
      </p:sp>
      <p:sp>
        <p:nvSpPr>
          <p:cNvPr id="6" name="Shape 4"/>
          <p:cNvSpPr/>
          <p:nvPr/>
        </p:nvSpPr>
        <p:spPr>
          <a:xfrm>
            <a:off x="640080" y="1508760"/>
            <a:ext cx="3566160" cy="128016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DDE6F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04672" y="1655064"/>
            <a:ext cx="722376" cy="256032"/>
          </a:xfrm>
          <a:prstGeom prst="roundRect">
            <a:avLst>
              <a:gd name="adj" fmla="val 21429"/>
            </a:avLst>
          </a:prstGeom>
          <a:solidFill>
            <a:srgbClr val="EAF2FF"/>
          </a:solidFill>
          <a:ln w="12700">
            <a:solidFill>
              <a:srgbClr val="EAF2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77824" y="1719072"/>
            <a:ext cx="576072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b="1" dirty="0">
                <a:solidFill>
                  <a:srgbClr val="377DFF"/>
                </a:solidFill>
              </a:rPr>
              <a:t>痛點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841248" y="1984248"/>
            <a:ext cx="31638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162033"/>
                </a:solidFill>
              </a:rPr>
              <a:t>痛點 1：很花時間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841248" y="2276856"/>
            <a:ext cx="3163824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8768A"/>
                </a:solidFill>
              </a:rPr>
              <a:t>業助要讀英文信、開附件、整理 BOM、找料號、查成本、做報價單。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4480560" y="1508760"/>
            <a:ext cx="3566160" cy="128016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DDE6F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645152" y="1655064"/>
            <a:ext cx="722376" cy="256032"/>
          </a:xfrm>
          <a:prstGeom prst="roundRect">
            <a:avLst>
              <a:gd name="adj" fmla="val 21429"/>
            </a:avLst>
          </a:prstGeom>
          <a:solidFill>
            <a:srgbClr val="EAF2FF"/>
          </a:solidFill>
          <a:ln w="12700">
            <a:solidFill>
              <a:srgbClr val="EAF2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718304" y="1719072"/>
            <a:ext cx="576072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b="1" dirty="0">
                <a:solidFill>
                  <a:srgbClr val="377DFF"/>
                </a:solidFill>
              </a:rPr>
              <a:t>成本</a:t>
            </a:r>
            <a:endParaRPr lang="en-US" sz="750" dirty="0"/>
          </a:p>
        </p:txBody>
      </p:sp>
      <p:sp>
        <p:nvSpPr>
          <p:cNvPr id="14" name="Text 12"/>
          <p:cNvSpPr/>
          <p:nvPr/>
        </p:nvSpPr>
        <p:spPr>
          <a:xfrm>
            <a:off x="4681728" y="1984248"/>
            <a:ext cx="31638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162033"/>
                </a:solidFill>
              </a:rPr>
              <a:t>痛點 2：很多不成交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681728" y="2276856"/>
            <a:ext cx="3163824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8768A"/>
                </a:solidFill>
              </a:rPr>
              <a:t>60–80% 詢價最後未必成交，但前面整理時間一樣要花。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8321040" y="1508760"/>
            <a:ext cx="3200400" cy="128016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DDE6F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485632" y="1655064"/>
            <a:ext cx="722376" cy="256032"/>
          </a:xfrm>
          <a:prstGeom prst="roundRect">
            <a:avLst>
              <a:gd name="adj" fmla="val 21429"/>
            </a:avLst>
          </a:prstGeom>
          <a:solidFill>
            <a:srgbClr val="EAF2FF"/>
          </a:solidFill>
          <a:ln w="12700">
            <a:solidFill>
              <a:srgbClr val="EAF2F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558784" y="1719072"/>
            <a:ext cx="576072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b="1" dirty="0">
                <a:solidFill>
                  <a:srgbClr val="377DFF"/>
                </a:solidFill>
              </a:rPr>
              <a:t>人力</a:t>
            </a:r>
            <a:endParaRPr lang="en-US" sz="750" dirty="0"/>
          </a:p>
        </p:txBody>
      </p:sp>
      <p:sp>
        <p:nvSpPr>
          <p:cNvPr id="19" name="Text 17"/>
          <p:cNvSpPr/>
          <p:nvPr/>
        </p:nvSpPr>
        <p:spPr>
          <a:xfrm>
            <a:off x="8522208" y="1984248"/>
            <a:ext cx="279806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162033"/>
                </a:solidFill>
              </a:rPr>
              <a:t>痛點 3：缺工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8522208" y="2276856"/>
            <a:ext cx="2798064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8768A"/>
                </a:solidFill>
              </a:rPr>
              <a:t>熟手業助很難補，流程越依賴人，越難擴張。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640080" y="3337560"/>
            <a:ext cx="5166360" cy="1783080"/>
          </a:xfrm>
          <a:prstGeom prst="roundRect">
            <a:avLst>
              <a:gd name="adj" fmla="val 4103"/>
            </a:avLst>
          </a:prstGeom>
          <a:solidFill>
            <a:srgbClr val="EAF2FF"/>
          </a:solidFill>
          <a:ln w="12700">
            <a:solidFill>
              <a:srgbClr val="CFE0F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41248" y="3502152"/>
            <a:ext cx="47640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62033"/>
                </a:solidFill>
              </a:rPr>
              <a:t>誰最痛？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859536" y="3840480"/>
            <a:ext cx="4727448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8768A"/>
                </a:solidFill>
              </a:rPr>
              <a:t>• 年營收約 NT$1–10 億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68768A"/>
                </a:solidFill>
              </a:rPr>
              <a:t>• 3–15 名業助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68768A"/>
                </a:solidFill>
              </a:rPr>
              <a:t>• 出口貿易商、零組件廠、模具廠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68768A"/>
                </a:solidFill>
              </a:rPr>
              <a:t>• 每天收到大量英文 RFQ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6217920" y="3337560"/>
            <a:ext cx="5257800" cy="1783080"/>
          </a:xfrm>
          <a:prstGeom prst="roundRect">
            <a:avLst>
              <a:gd name="adj" fmla="val 4103"/>
            </a:avLst>
          </a:prstGeom>
          <a:solidFill>
            <a:srgbClr val="EAF8F2"/>
          </a:solidFill>
          <a:ln w="12700">
            <a:solidFill>
              <a:srgbClr val="CCECDD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419088" y="3502152"/>
            <a:ext cx="485546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62033"/>
                </a:solidFill>
              </a:rPr>
              <a:t>最適合先切入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6437376" y="3840480"/>
            <a:ext cx="4818888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8768A"/>
                </a:solidFill>
              </a:rPr>
              <a:t>• 扣件、五金、電子零件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68768A"/>
                </a:solidFill>
              </a:rPr>
              <a:t>• 料號與規格重複率高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68768A"/>
                </a:solidFill>
              </a:rPr>
              <a:t>• 已有 Excel / ERP 成本資料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68768A"/>
                </a:solidFill>
              </a:rPr>
              <a:t>• 老闆能算出省工時 ROI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29184"/>
            <a:ext cx="1097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377DFF"/>
                </a:solidFill>
              </a:rPr>
              <a:t>03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594360" y="594360"/>
            <a:ext cx="10698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62033"/>
                </a:solidFill>
              </a:rPr>
              <a:t>如何解決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621792" y="1097280"/>
            <a:ext cx="10607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68768A"/>
                </a:solidFill>
              </a:rPr>
              <a:t>產品不是取代業助，而是把最耗時的整理工作先自動完成。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9921240" y="6473952"/>
            <a:ext cx="1554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8A98AA"/>
                </a:solidFill>
              </a:rPr>
              <a:t>RFQ Pilot｜3/12</a:t>
            </a:r>
            <a:endParaRPr lang="en-US" sz="700" dirty="0"/>
          </a:p>
        </p:txBody>
      </p:sp>
      <p:sp>
        <p:nvSpPr>
          <p:cNvPr id="6" name="Shape 4"/>
          <p:cNvSpPr/>
          <p:nvPr/>
        </p:nvSpPr>
        <p:spPr>
          <a:xfrm>
            <a:off x="502920" y="1828800"/>
            <a:ext cx="1325880" cy="713232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 w="12700">
            <a:solidFill>
              <a:srgbClr val="DDE6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94360" y="1947672"/>
            <a:ext cx="11430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162033"/>
                </a:solidFill>
              </a:rPr>
              <a:t>收信</a:t>
            </a:r>
            <a:endParaRPr lang="en-US" sz="880" dirty="0"/>
          </a:p>
        </p:txBody>
      </p:sp>
      <p:sp>
        <p:nvSpPr>
          <p:cNvPr id="8" name="Text 6"/>
          <p:cNvSpPr/>
          <p:nvPr/>
        </p:nvSpPr>
        <p:spPr>
          <a:xfrm>
            <a:off x="594360" y="2212848"/>
            <a:ext cx="11430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80" dirty="0">
                <a:solidFill>
                  <a:srgbClr val="68768A"/>
                </a:solidFill>
              </a:rPr>
              <a:t>Email</a:t>
            </a:r>
            <a:endParaRPr lang="en-US" sz="680" dirty="0"/>
          </a:p>
        </p:txBody>
      </p:sp>
      <p:sp>
        <p:nvSpPr>
          <p:cNvPr id="9" name="Shape 7"/>
          <p:cNvSpPr/>
          <p:nvPr/>
        </p:nvSpPr>
        <p:spPr>
          <a:xfrm>
            <a:off x="1874520" y="1828800"/>
            <a:ext cx="1325880" cy="713232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 w="12700">
            <a:solidFill>
              <a:srgbClr val="DDE6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965960" y="1947672"/>
            <a:ext cx="11430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162033"/>
                </a:solidFill>
              </a:rPr>
              <a:t>解析</a:t>
            </a:r>
            <a:endParaRPr lang="en-US" sz="880" dirty="0"/>
          </a:p>
        </p:txBody>
      </p:sp>
      <p:sp>
        <p:nvSpPr>
          <p:cNvPr id="11" name="Text 9"/>
          <p:cNvSpPr/>
          <p:nvPr/>
        </p:nvSpPr>
        <p:spPr>
          <a:xfrm>
            <a:off x="1965960" y="2212848"/>
            <a:ext cx="11430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80" dirty="0">
                <a:solidFill>
                  <a:srgbClr val="68768A"/>
                </a:solidFill>
              </a:rPr>
              <a:t>Excel / PDF</a:t>
            </a:r>
            <a:endParaRPr lang="en-US" sz="680" dirty="0"/>
          </a:p>
        </p:txBody>
      </p:sp>
      <p:sp>
        <p:nvSpPr>
          <p:cNvPr id="12" name="Shape 10"/>
          <p:cNvSpPr/>
          <p:nvPr/>
        </p:nvSpPr>
        <p:spPr>
          <a:xfrm>
            <a:off x="3246120" y="1828800"/>
            <a:ext cx="1325880" cy="713232"/>
          </a:xfrm>
          <a:prstGeom prst="roundRect">
            <a:avLst>
              <a:gd name="adj" fmla="val 10256"/>
            </a:avLst>
          </a:prstGeom>
          <a:solidFill>
            <a:srgbClr val="EAF2FF"/>
          </a:solidFill>
          <a:ln w="12700">
            <a:solidFill>
              <a:srgbClr val="DDE6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337560" y="1947672"/>
            <a:ext cx="11430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162033"/>
                </a:solidFill>
              </a:rPr>
              <a:t>抽欄位</a:t>
            </a:r>
            <a:endParaRPr lang="en-US" sz="880" dirty="0"/>
          </a:p>
        </p:txBody>
      </p:sp>
      <p:sp>
        <p:nvSpPr>
          <p:cNvPr id="14" name="Text 12"/>
          <p:cNvSpPr/>
          <p:nvPr/>
        </p:nvSpPr>
        <p:spPr>
          <a:xfrm>
            <a:off x="3337560" y="2212848"/>
            <a:ext cx="11430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80" dirty="0">
                <a:solidFill>
                  <a:srgbClr val="68768A"/>
                </a:solidFill>
              </a:rPr>
              <a:t>LLM</a:t>
            </a:r>
            <a:endParaRPr lang="en-US" sz="680" dirty="0"/>
          </a:p>
        </p:txBody>
      </p:sp>
      <p:sp>
        <p:nvSpPr>
          <p:cNvPr id="15" name="Shape 13"/>
          <p:cNvSpPr/>
          <p:nvPr/>
        </p:nvSpPr>
        <p:spPr>
          <a:xfrm>
            <a:off x="4617720" y="1828800"/>
            <a:ext cx="1325880" cy="713232"/>
          </a:xfrm>
          <a:prstGeom prst="roundRect">
            <a:avLst>
              <a:gd name="adj" fmla="val 10256"/>
            </a:avLst>
          </a:prstGeom>
          <a:solidFill>
            <a:srgbClr val="EAF2FF"/>
          </a:solidFill>
          <a:ln w="12700">
            <a:solidFill>
              <a:srgbClr val="DDE6F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709160" y="1947672"/>
            <a:ext cx="11430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162033"/>
                </a:solidFill>
              </a:rPr>
              <a:t>找料號</a:t>
            </a:r>
            <a:endParaRPr lang="en-US" sz="880" dirty="0"/>
          </a:p>
        </p:txBody>
      </p:sp>
      <p:sp>
        <p:nvSpPr>
          <p:cNvPr id="17" name="Text 15"/>
          <p:cNvSpPr/>
          <p:nvPr/>
        </p:nvSpPr>
        <p:spPr>
          <a:xfrm>
            <a:off x="4709160" y="2212848"/>
            <a:ext cx="11430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80" dirty="0">
                <a:solidFill>
                  <a:srgbClr val="68768A"/>
                </a:solidFill>
              </a:rPr>
              <a:t>Match</a:t>
            </a:r>
            <a:endParaRPr lang="en-US" sz="680" dirty="0"/>
          </a:p>
        </p:txBody>
      </p:sp>
      <p:sp>
        <p:nvSpPr>
          <p:cNvPr id="18" name="Shape 16"/>
          <p:cNvSpPr/>
          <p:nvPr/>
        </p:nvSpPr>
        <p:spPr>
          <a:xfrm>
            <a:off x="5989320" y="1828800"/>
            <a:ext cx="1325880" cy="713232"/>
          </a:xfrm>
          <a:prstGeom prst="roundRect">
            <a:avLst>
              <a:gd name="adj" fmla="val 10256"/>
            </a:avLst>
          </a:prstGeom>
          <a:solidFill>
            <a:srgbClr val="EAF8F2"/>
          </a:solidFill>
          <a:ln w="12700">
            <a:solidFill>
              <a:srgbClr val="DDE6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080760" y="1947672"/>
            <a:ext cx="11430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162033"/>
                </a:solidFill>
              </a:rPr>
              <a:t>查資料</a:t>
            </a:r>
            <a:endParaRPr lang="en-US" sz="880" dirty="0"/>
          </a:p>
        </p:txBody>
      </p:sp>
      <p:sp>
        <p:nvSpPr>
          <p:cNvPr id="20" name="Text 18"/>
          <p:cNvSpPr/>
          <p:nvPr/>
        </p:nvSpPr>
        <p:spPr>
          <a:xfrm>
            <a:off x="6080760" y="2212848"/>
            <a:ext cx="11430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80" dirty="0">
                <a:solidFill>
                  <a:srgbClr val="68768A"/>
                </a:solidFill>
              </a:rPr>
              <a:t>ERP</a:t>
            </a:r>
            <a:endParaRPr lang="en-US" sz="680" dirty="0"/>
          </a:p>
        </p:txBody>
      </p:sp>
      <p:sp>
        <p:nvSpPr>
          <p:cNvPr id="21" name="Shape 19"/>
          <p:cNvSpPr/>
          <p:nvPr/>
        </p:nvSpPr>
        <p:spPr>
          <a:xfrm>
            <a:off x="7360920" y="1828800"/>
            <a:ext cx="1325880" cy="713232"/>
          </a:xfrm>
          <a:prstGeom prst="roundRect">
            <a:avLst>
              <a:gd name="adj" fmla="val 10256"/>
            </a:avLst>
          </a:prstGeom>
          <a:solidFill>
            <a:srgbClr val="FFF7DF"/>
          </a:solidFill>
          <a:ln w="12700">
            <a:solidFill>
              <a:srgbClr val="DDE6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452360" y="1947672"/>
            <a:ext cx="11430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162033"/>
                </a:solidFill>
              </a:rPr>
              <a:t>算規則</a:t>
            </a:r>
            <a:endParaRPr lang="en-US" sz="880" dirty="0"/>
          </a:p>
        </p:txBody>
      </p:sp>
      <p:sp>
        <p:nvSpPr>
          <p:cNvPr id="23" name="Text 21"/>
          <p:cNvSpPr/>
          <p:nvPr/>
        </p:nvSpPr>
        <p:spPr>
          <a:xfrm>
            <a:off x="7452360" y="2212848"/>
            <a:ext cx="11430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80" dirty="0">
                <a:solidFill>
                  <a:srgbClr val="68768A"/>
                </a:solidFill>
              </a:rPr>
              <a:t>Rule</a:t>
            </a:r>
            <a:endParaRPr lang="en-US" sz="680" dirty="0"/>
          </a:p>
        </p:txBody>
      </p:sp>
      <p:sp>
        <p:nvSpPr>
          <p:cNvPr id="24" name="Shape 22"/>
          <p:cNvSpPr/>
          <p:nvPr/>
        </p:nvSpPr>
        <p:spPr>
          <a:xfrm>
            <a:off x="8732520" y="1828800"/>
            <a:ext cx="1325880" cy="713232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 w="12700">
            <a:solidFill>
              <a:srgbClr val="DDE6F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823960" y="1947672"/>
            <a:ext cx="11430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162033"/>
                </a:solidFill>
              </a:rPr>
              <a:t>做草稿</a:t>
            </a:r>
            <a:endParaRPr lang="en-US" sz="880" dirty="0"/>
          </a:p>
        </p:txBody>
      </p:sp>
      <p:sp>
        <p:nvSpPr>
          <p:cNvPr id="26" name="Text 24"/>
          <p:cNvSpPr/>
          <p:nvPr/>
        </p:nvSpPr>
        <p:spPr>
          <a:xfrm>
            <a:off x="8823960" y="2212848"/>
            <a:ext cx="11430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80" dirty="0">
                <a:solidFill>
                  <a:srgbClr val="68768A"/>
                </a:solidFill>
              </a:rPr>
              <a:t>Draft</a:t>
            </a:r>
            <a:endParaRPr lang="en-US" sz="680" dirty="0"/>
          </a:p>
        </p:txBody>
      </p:sp>
      <p:sp>
        <p:nvSpPr>
          <p:cNvPr id="27" name="Shape 25"/>
          <p:cNvSpPr/>
          <p:nvPr/>
        </p:nvSpPr>
        <p:spPr>
          <a:xfrm>
            <a:off x="10104120" y="1828800"/>
            <a:ext cx="1325880" cy="713232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 w="12700">
            <a:solidFill>
              <a:srgbClr val="DDE6F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0195560" y="1947672"/>
            <a:ext cx="11430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162033"/>
                </a:solidFill>
              </a:rPr>
              <a:t>人確認</a:t>
            </a:r>
            <a:endParaRPr lang="en-US" sz="880" dirty="0"/>
          </a:p>
        </p:txBody>
      </p:sp>
      <p:sp>
        <p:nvSpPr>
          <p:cNvPr id="29" name="Text 27"/>
          <p:cNvSpPr/>
          <p:nvPr/>
        </p:nvSpPr>
        <p:spPr>
          <a:xfrm>
            <a:off x="10195560" y="2212848"/>
            <a:ext cx="11430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80" dirty="0">
                <a:solidFill>
                  <a:srgbClr val="68768A"/>
                </a:solidFill>
              </a:rPr>
              <a:t>Review</a:t>
            </a:r>
            <a:endParaRPr lang="en-US" sz="680" dirty="0"/>
          </a:p>
        </p:txBody>
      </p:sp>
      <p:sp>
        <p:nvSpPr>
          <p:cNvPr id="30" name="Shape 28"/>
          <p:cNvSpPr/>
          <p:nvPr/>
        </p:nvSpPr>
        <p:spPr>
          <a:xfrm>
            <a:off x="731520" y="3246120"/>
            <a:ext cx="324612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DDE6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932688" y="3410712"/>
            <a:ext cx="28437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162033"/>
                </a:solidFill>
              </a:rPr>
              <a:t>LLM（大型語言模型）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932688" y="3721608"/>
            <a:ext cx="2843784" cy="7955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8768A"/>
                </a:solidFill>
              </a:rPr>
              <a:t>負責讀懂信件與附件，像是「只報 item 3 和 5」、「忽略舊版」。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4480560" y="3246120"/>
            <a:ext cx="324612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DDE6F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681728" y="3410712"/>
            <a:ext cx="28437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162033"/>
                </a:solidFill>
              </a:rPr>
              <a:t>ERP（公司系統）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4681728" y="3721608"/>
            <a:ext cx="2843784" cy="7955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8768A"/>
                </a:solidFill>
              </a:rPr>
              <a:t>負責提供正確料號、成本、庫存、MOQ 與交期。</a:t>
            </a:r>
            <a:endParaRPr lang="en-US" sz="850" dirty="0"/>
          </a:p>
        </p:txBody>
      </p:sp>
      <p:sp>
        <p:nvSpPr>
          <p:cNvPr id="36" name="Shape 34"/>
          <p:cNvSpPr/>
          <p:nvPr/>
        </p:nvSpPr>
        <p:spPr>
          <a:xfrm>
            <a:off x="8229600" y="3246120"/>
            <a:ext cx="324612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DDE6F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8430768" y="3410712"/>
            <a:ext cx="28437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162033"/>
                </a:solidFill>
              </a:rPr>
              <a:t>Rule Engine（規則引擎）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8430768" y="3721608"/>
            <a:ext cx="2843784" cy="7955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8768A"/>
                </a:solidFill>
              </a:rPr>
              <a:t>負責最低毛利、成本過期、主管核准等硬規則。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29184"/>
            <a:ext cx="1097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377DFF"/>
                </a:solidFill>
              </a:rPr>
              <a:t>04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594360" y="594360"/>
            <a:ext cx="10698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62033"/>
                </a:solidFill>
              </a:rPr>
              <a:t>操作流程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621792" y="1097280"/>
            <a:ext cx="10607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68768A"/>
                </a:solidFill>
              </a:rPr>
              <a:t>使用者只要把 RFQ 放進系統，AI 先整理，人最後確認。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9921240" y="6473952"/>
            <a:ext cx="1554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8A98AA"/>
                </a:solidFill>
              </a:rPr>
              <a:t>RFQ Pilot｜4/12</a:t>
            </a:r>
            <a:endParaRPr lang="en-US" sz="700" dirty="0"/>
          </a:p>
        </p:txBody>
      </p:sp>
      <p:sp>
        <p:nvSpPr>
          <p:cNvPr id="6" name="Shape 4"/>
          <p:cNvSpPr/>
          <p:nvPr/>
        </p:nvSpPr>
        <p:spPr>
          <a:xfrm>
            <a:off x="731520" y="1417320"/>
            <a:ext cx="384048" cy="384048"/>
          </a:xfrm>
          <a:prstGeom prst="ellipse">
            <a:avLst/>
          </a:prstGeom>
          <a:solidFill>
            <a:srgbClr val="377DFF"/>
          </a:solidFill>
          <a:ln w="12700">
            <a:solidFill>
              <a:srgbClr val="377D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1517904"/>
            <a:ext cx="384048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1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1325880" y="1435608"/>
            <a:ext cx="21945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62033"/>
                </a:solidFill>
              </a:rPr>
              <a:t>1. 收到詢價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566160" y="1435608"/>
            <a:ext cx="37947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8768A"/>
                </a:solidFill>
              </a:rPr>
              <a:t>系統讀取 Email 與附件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923544" y="1828800"/>
            <a:ext cx="0" cy="420624"/>
          </a:xfrm>
          <a:prstGeom prst="line">
            <a:avLst/>
          </a:prstGeom>
          <a:noFill/>
          <a:ln w="12700">
            <a:solidFill>
              <a:srgbClr val="DDE6F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31520" y="2240280"/>
            <a:ext cx="384048" cy="384048"/>
          </a:xfrm>
          <a:prstGeom prst="ellipse">
            <a:avLst/>
          </a:prstGeom>
          <a:solidFill>
            <a:srgbClr val="377DFF"/>
          </a:solidFill>
          <a:ln w="12700">
            <a:solidFill>
              <a:srgbClr val="377D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31520" y="2340864"/>
            <a:ext cx="384048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2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1325880" y="2258568"/>
            <a:ext cx="21945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62033"/>
                </a:solidFill>
              </a:rPr>
              <a:t>2. AI 整理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3566160" y="2258568"/>
            <a:ext cx="37947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8768A"/>
                </a:solidFill>
              </a:rPr>
              <a:t>抽出客戶、料號、數量、交期、幣別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923544" y="2651760"/>
            <a:ext cx="0" cy="420624"/>
          </a:xfrm>
          <a:prstGeom prst="line">
            <a:avLst/>
          </a:prstGeom>
          <a:noFill/>
          <a:ln w="12700">
            <a:solidFill>
              <a:srgbClr val="DDE6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31520" y="3063240"/>
            <a:ext cx="384048" cy="384048"/>
          </a:xfrm>
          <a:prstGeom prst="ellipse">
            <a:avLst/>
          </a:prstGeom>
          <a:solidFill>
            <a:srgbClr val="377DFF"/>
          </a:solidFill>
          <a:ln w="12700">
            <a:solidFill>
              <a:srgbClr val="377DF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31520" y="3163824"/>
            <a:ext cx="384048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3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1325880" y="3081528"/>
            <a:ext cx="21945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62033"/>
                </a:solidFill>
              </a:rPr>
              <a:t>3. 查公司資料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3566160" y="3081528"/>
            <a:ext cx="37947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8768A"/>
                </a:solidFill>
              </a:rPr>
              <a:t>比對料號，查成本、庫存、MOQ、交期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923544" y="3474720"/>
            <a:ext cx="0" cy="420624"/>
          </a:xfrm>
          <a:prstGeom prst="line">
            <a:avLst/>
          </a:prstGeom>
          <a:noFill/>
          <a:ln w="12700">
            <a:solidFill>
              <a:srgbClr val="DDE6F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31520" y="3886200"/>
            <a:ext cx="384048" cy="384048"/>
          </a:xfrm>
          <a:prstGeom prst="ellipse">
            <a:avLst/>
          </a:prstGeom>
          <a:solidFill>
            <a:srgbClr val="377DFF"/>
          </a:solidFill>
          <a:ln w="12700">
            <a:solidFill>
              <a:srgbClr val="377DF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31520" y="3986784"/>
            <a:ext cx="384048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4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1325880" y="3904488"/>
            <a:ext cx="21945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62033"/>
                </a:solidFill>
              </a:rPr>
              <a:t>4. 產生報價草稿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3566160" y="3904488"/>
            <a:ext cx="37947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8768A"/>
                </a:solidFill>
              </a:rPr>
              <a:t>套用毛利與報價規則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923544" y="4297680"/>
            <a:ext cx="0" cy="420624"/>
          </a:xfrm>
          <a:prstGeom prst="line">
            <a:avLst/>
          </a:prstGeom>
          <a:noFill/>
          <a:ln w="12700">
            <a:solidFill>
              <a:srgbClr val="DDE6F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731520" y="4709160"/>
            <a:ext cx="384048" cy="384048"/>
          </a:xfrm>
          <a:prstGeom prst="ellipse">
            <a:avLst/>
          </a:prstGeom>
          <a:solidFill>
            <a:srgbClr val="377DFF"/>
          </a:solidFill>
          <a:ln w="12700">
            <a:solidFill>
              <a:srgbClr val="377DF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31520" y="4809744"/>
            <a:ext cx="384048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5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1325880" y="4727448"/>
            <a:ext cx="21945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62033"/>
                </a:solidFill>
              </a:rPr>
              <a:t>5. 人工確認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3566160" y="4727448"/>
            <a:ext cx="37947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8768A"/>
                </a:solidFill>
              </a:rPr>
              <a:t>業助 / 主管確認後才寄出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7726680" y="1600200"/>
            <a:ext cx="3474720" cy="1143000"/>
          </a:xfrm>
          <a:prstGeom prst="roundRect">
            <a:avLst>
              <a:gd name="adj" fmla="val 6400"/>
            </a:avLst>
          </a:prstGeom>
          <a:solidFill>
            <a:srgbClr val="FFF0F2"/>
          </a:solidFill>
          <a:ln w="12700">
            <a:solidFill>
              <a:srgbClr val="FFD1D7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927848" y="1764792"/>
            <a:ext cx="30723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D95060"/>
                </a:solidFill>
              </a:rPr>
              <a:t>重點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7927848" y="2075688"/>
            <a:ext cx="3072384" cy="5212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8768A"/>
                </a:solidFill>
              </a:rPr>
              <a:t>AI 產出 Draft（草稿），不是直接 Send（寄出）。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7726680" y="3337560"/>
            <a:ext cx="3474720" cy="1143000"/>
          </a:xfrm>
          <a:prstGeom prst="roundRect">
            <a:avLst>
              <a:gd name="adj" fmla="val 6400"/>
            </a:avLst>
          </a:prstGeom>
          <a:solidFill>
            <a:srgbClr val="EAF8F2"/>
          </a:solidFill>
          <a:ln w="12700">
            <a:solidFill>
              <a:srgbClr val="CCECDD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7927848" y="3502152"/>
            <a:ext cx="30723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23996B"/>
                </a:solidFill>
              </a:rPr>
              <a:t>好處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7927848" y="3813048"/>
            <a:ext cx="3072384" cy="5212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8768A"/>
                </a:solidFill>
              </a:rPr>
              <a:t>人只處理例外：低信心料號、過期成本、低毛利、高金額。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29184"/>
            <a:ext cx="1097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377DFF"/>
                </a:solidFill>
              </a:rPr>
              <a:t>05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594360" y="594360"/>
            <a:ext cx="10698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62033"/>
                </a:solidFill>
              </a:rPr>
              <a:t>最小 MVP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621792" y="1097280"/>
            <a:ext cx="10607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68768A"/>
                </a:solidFill>
              </a:rPr>
              <a:t>第一版只做最常見、最能省時間的流程。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9921240" y="6473952"/>
            <a:ext cx="1554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8A98AA"/>
                </a:solidFill>
              </a:rPr>
              <a:t>RFQ Pilot｜5/12</a:t>
            </a:r>
            <a:endParaRPr lang="en-US" sz="700" dirty="0"/>
          </a:p>
        </p:txBody>
      </p:sp>
      <p:sp>
        <p:nvSpPr>
          <p:cNvPr id="6" name="Shape 4"/>
          <p:cNvSpPr/>
          <p:nvPr/>
        </p:nvSpPr>
        <p:spPr>
          <a:xfrm>
            <a:off x="640080" y="1371600"/>
            <a:ext cx="3429000" cy="3474720"/>
          </a:xfrm>
          <a:prstGeom prst="roundRect">
            <a:avLst>
              <a:gd name="adj" fmla="val 2133"/>
            </a:avLst>
          </a:prstGeom>
          <a:solidFill>
            <a:srgbClr val="EAF8F2"/>
          </a:solidFill>
          <a:ln w="12700">
            <a:solidFill>
              <a:srgbClr val="CCECD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41248" y="1536192"/>
            <a:ext cx="302666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62033"/>
                </a:solidFill>
              </a:rPr>
              <a:t>第一版要做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859536" y="1874520"/>
            <a:ext cx="2990088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8768A"/>
                </a:solidFill>
              </a:rPr>
              <a:t>• Email + Excel BOM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68768A"/>
                </a:solidFill>
              </a:rPr>
              <a:t>• 基本文字 PDF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68768A"/>
                </a:solidFill>
              </a:rPr>
              <a:t>• 欄位抽取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68768A"/>
                </a:solidFill>
              </a:rPr>
              <a:t>• 料號 Exact / Fuzzy / No Match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68768A"/>
                </a:solidFill>
              </a:rPr>
              <a:t>• 查成本、庫存、MOQ、交期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68768A"/>
                </a:solidFill>
              </a:rPr>
              <a:t>• 報價草稿 + 人工覆核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4434840" y="1371600"/>
            <a:ext cx="3429000" cy="3474720"/>
          </a:xfrm>
          <a:prstGeom prst="roundRect">
            <a:avLst>
              <a:gd name="adj" fmla="val 2133"/>
            </a:avLst>
          </a:prstGeom>
          <a:solidFill>
            <a:srgbClr val="FFF0F2"/>
          </a:solidFill>
          <a:ln w="12700">
            <a:solidFill>
              <a:srgbClr val="FFD1D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636008" y="1536192"/>
            <a:ext cx="302666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62033"/>
                </a:solidFill>
              </a:rPr>
              <a:t>第一版不做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654296" y="1874520"/>
            <a:ext cx="2990088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8768A"/>
                </a:solidFill>
              </a:rPr>
              <a:t>• CAD 工程圖全面辨識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68768A"/>
                </a:solidFill>
              </a:rPr>
              <a:t>• 手機照片高可靠辨識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68768A"/>
                </a:solidFill>
              </a:rPr>
              <a:t>• 所有 ERP 一次支援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68768A"/>
                </a:solidFill>
              </a:rPr>
              <a:t>• 全自動正式報價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68768A"/>
                </a:solidFill>
              </a:rPr>
              <a:t>• 跨所有產業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8229600" y="1371600"/>
            <a:ext cx="3291840" cy="3474720"/>
          </a:xfrm>
          <a:prstGeom prst="roundRect">
            <a:avLst>
              <a:gd name="adj" fmla="val 2222"/>
            </a:avLst>
          </a:prstGeom>
          <a:solidFill>
            <a:srgbClr val="EAF2FF"/>
          </a:solidFill>
          <a:ln w="12700">
            <a:solidFill>
              <a:srgbClr val="CFE0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430768" y="1536192"/>
            <a:ext cx="28895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62033"/>
                </a:solidFill>
              </a:rPr>
              <a:t>成功標準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8449056" y="1874520"/>
            <a:ext cx="2852928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8768A"/>
                </a:solidFill>
              </a:rPr>
              <a:t>• 平均處理時間 ≤20 分鐘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68768A"/>
                </a:solidFill>
              </a:rPr>
              <a:t>• 欄位抽取準確 ≥95%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68768A"/>
                </a:solidFill>
              </a:rPr>
              <a:t>• 料號匹配 ≥80–90%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68768A"/>
                </a:solidFill>
              </a:rPr>
              <a:t>• 錯價能被系統擋下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68768A"/>
                </a:solidFill>
              </a:rPr>
              <a:t>• 老闆看得到省工時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29184"/>
            <a:ext cx="1097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377DFF"/>
                </a:solidFill>
              </a:rPr>
              <a:t>06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594360" y="594360"/>
            <a:ext cx="10698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62033"/>
                </a:solidFill>
              </a:rPr>
              <a:t>產品願景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621792" y="1097280"/>
            <a:ext cx="10607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68768A"/>
                </a:solidFill>
              </a:rPr>
              <a:t>從「詢價整理助手」長成「製造業報價作業平台」。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9921240" y="6473952"/>
            <a:ext cx="1554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8A98AA"/>
                </a:solidFill>
              </a:rPr>
              <a:t>RFQ Pilot｜6/12</a:t>
            </a:r>
            <a:endParaRPr lang="en-US" sz="700" dirty="0"/>
          </a:p>
        </p:txBody>
      </p:sp>
      <p:sp>
        <p:nvSpPr>
          <p:cNvPr id="6" name="Shape 4"/>
          <p:cNvSpPr/>
          <p:nvPr/>
        </p:nvSpPr>
        <p:spPr>
          <a:xfrm>
            <a:off x="731520" y="1828800"/>
            <a:ext cx="1783080" cy="1920240"/>
          </a:xfrm>
          <a:prstGeom prst="roundRect">
            <a:avLst>
              <a:gd name="adj" fmla="val 4103"/>
            </a:avLst>
          </a:prstGeom>
          <a:solidFill>
            <a:srgbClr val="EAF2FF"/>
          </a:solidFill>
          <a:ln w="12700">
            <a:solidFill>
              <a:srgbClr val="CFE0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32688" y="1993392"/>
            <a:ext cx="13807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162033"/>
                </a:solidFill>
              </a:rPr>
              <a:t>Year 1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932688" y="2304288"/>
            <a:ext cx="1380744" cy="12984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8768A"/>
                </a:solidFill>
              </a:rPr>
              <a:t>單一產業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68768A"/>
                </a:solidFill>
              </a:rPr>
              <a:t>Email + Excel MVP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2560320" y="2788920"/>
            <a:ext cx="411480" cy="0"/>
          </a:xfrm>
          <a:prstGeom prst="line">
            <a:avLst/>
          </a:prstGeom>
          <a:noFill/>
          <a:ln w="12700">
            <a:solidFill>
              <a:srgbClr val="377DFF"/>
            </a:solidFill>
            <a:prstDash val="solid"/>
            <a:headEnd type="none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3063240" y="1828800"/>
            <a:ext cx="1783080" cy="192024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DDE6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264408" y="1993392"/>
            <a:ext cx="13807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162033"/>
                </a:solidFill>
              </a:rPr>
              <a:t>Year 2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264408" y="2304288"/>
            <a:ext cx="1380744" cy="12984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8768A"/>
                </a:solidFill>
              </a:rPr>
              <a:t>更多 ERP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68768A"/>
                </a:solidFill>
              </a:rPr>
              <a:t>建立料號與歷史報價資料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4892040" y="2788920"/>
            <a:ext cx="411480" cy="0"/>
          </a:xfrm>
          <a:prstGeom prst="line">
            <a:avLst/>
          </a:prstGeom>
          <a:noFill/>
          <a:ln w="12700">
            <a:solidFill>
              <a:srgbClr val="377DFF"/>
            </a:solidFill>
            <a:prstDash val="solid"/>
            <a:headEnd type="none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5394960" y="1828800"/>
            <a:ext cx="1783080" cy="1920240"/>
          </a:xfrm>
          <a:prstGeom prst="roundRect">
            <a:avLst>
              <a:gd name="adj" fmla="val 4103"/>
            </a:avLst>
          </a:prstGeom>
          <a:solidFill>
            <a:srgbClr val="EAF2FF"/>
          </a:solidFill>
          <a:ln w="12700">
            <a:solidFill>
              <a:srgbClr val="CFE0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596128" y="1993392"/>
            <a:ext cx="13807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162033"/>
                </a:solidFill>
              </a:rPr>
              <a:t>Year 3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596128" y="2304288"/>
            <a:ext cx="1380744" cy="12984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8768A"/>
                </a:solidFill>
              </a:rPr>
              <a:t>更多產業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68768A"/>
                </a:solidFill>
              </a:rPr>
              <a:t>模具 / 電子零件 / 五金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7223760" y="2788920"/>
            <a:ext cx="411480" cy="0"/>
          </a:xfrm>
          <a:prstGeom prst="line">
            <a:avLst/>
          </a:prstGeom>
          <a:noFill/>
          <a:ln w="12700">
            <a:solidFill>
              <a:srgbClr val="377DFF"/>
            </a:solidFill>
            <a:prstDash val="solid"/>
            <a:headEnd type="none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7726680" y="1828800"/>
            <a:ext cx="1783080" cy="192024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DDE6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927848" y="1993392"/>
            <a:ext cx="13807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162033"/>
                </a:solidFill>
              </a:rPr>
              <a:t>Year 4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7927848" y="2304288"/>
            <a:ext cx="1380744" cy="12984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8768A"/>
                </a:solidFill>
              </a:rPr>
              <a:t>供應商協作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68768A"/>
                </a:solidFill>
              </a:rPr>
              <a:t>自動詢供應商與比價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9555480" y="2788920"/>
            <a:ext cx="411480" cy="0"/>
          </a:xfrm>
          <a:prstGeom prst="line">
            <a:avLst/>
          </a:prstGeom>
          <a:noFill/>
          <a:ln w="12700">
            <a:solidFill>
              <a:srgbClr val="377DFF"/>
            </a:solidFill>
            <a:prstDash val="solid"/>
            <a:headEnd type="none"/>
            <a:tailEnd type="triangle"/>
          </a:ln>
        </p:spPr>
      </p:sp>
      <p:sp>
        <p:nvSpPr>
          <p:cNvPr id="22" name="Shape 20"/>
          <p:cNvSpPr/>
          <p:nvPr/>
        </p:nvSpPr>
        <p:spPr>
          <a:xfrm>
            <a:off x="10058400" y="1828800"/>
            <a:ext cx="1783080" cy="1920240"/>
          </a:xfrm>
          <a:prstGeom prst="roundRect">
            <a:avLst>
              <a:gd name="adj" fmla="val 4103"/>
            </a:avLst>
          </a:prstGeom>
          <a:solidFill>
            <a:srgbClr val="EAF2FF"/>
          </a:solidFill>
          <a:ln w="12700">
            <a:solidFill>
              <a:srgbClr val="CFE0F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0259568" y="1993392"/>
            <a:ext cx="13807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162033"/>
                </a:solidFill>
              </a:rPr>
              <a:t>Year 5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10259568" y="2304288"/>
            <a:ext cx="1380744" cy="12984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8768A"/>
                </a:solidFill>
              </a:rPr>
              <a:t>全球製造業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68768A"/>
                </a:solidFill>
              </a:rPr>
              <a:t>RFQ Workflow Platform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914400" y="4800600"/>
            <a:ext cx="10332720" cy="731520"/>
          </a:xfrm>
          <a:prstGeom prst="roundRect">
            <a:avLst>
              <a:gd name="adj" fmla="val 10000"/>
            </a:avLst>
          </a:prstGeom>
          <a:solidFill>
            <a:srgbClr val="0E1A2C"/>
          </a:solidFill>
          <a:ln w="12700">
            <a:solidFill>
              <a:srgbClr val="0E1A2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115568" y="4965192"/>
            <a:ext cx="99303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長期護城河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1115568" y="5276088"/>
            <a:ext cx="9930384" cy="1097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C8D5E7"/>
                </a:solidFill>
              </a:rPr>
              <a:t>不是 Prompt，而是：產業語料、料號 Mapping、歷史報價、ERP Connector、人工修正資料。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29184"/>
            <a:ext cx="1097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377DFF"/>
                </a:solidFill>
              </a:rPr>
              <a:t>07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594360" y="594360"/>
            <a:ext cx="10698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62033"/>
                </a:solidFill>
              </a:rPr>
              <a:t>商業模式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621792" y="1097280"/>
            <a:ext cx="10607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68768A"/>
                </a:solidFill>
              </a:rPr>
              <a:t>用月費收穩定收入，用導入費處理資料與串接。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9921240" y="6473952"/>
            <a:ext cx="1554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8A98AA"/>
                </a:solidFill>
              </a:rPr>
              <a:t>RFQ Pilot｜7/12</a:t>
            </a:r>
            <a:endParaRPr lang="en-US" sz="700" dirty="0"/>
          </a:p>
        </p:txBody>
      </p:sp>
      <p:sp>
        <p:nvSpPr>
          <p:cNvPr id="6" name="Shape 4"/>
          <p:cNvSpPr/>
          <p:nvPr/>
        </p:nvSpPr>
        <p:spPr>
          <a:xfrm>
            <a:off x="731520" y="1417320"/>
            <a:ext cx="320040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DDE6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32688" y="1581912"/>
            <a:ext cx="279806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162033"/>
                </a:solidFill>
              </a:rPr>
              <a:t>Starter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932688" y="1892808"/>
            <a:ext cx="2798064" cy="6126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8768A"/>
                </a:solidFill>
              </a:rPr>
              <a:t>NT$15,000 / 月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68768A"/>
                </a:solidFill>
              </a:rPr>
              <a:t>約 100 筆 RFQ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68768A"/>
                </a:solidFill>
              </a:rPr>
              <a:t>適合小型貿易商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4480560" y="1417320"/>
            <a:ext cx="3200400" cy="1234440"/>
          </a:xfrm>
          <a:prstGeom prst="roundRect">
            <a:avLst>
              <a:gd name="adj" fmla="val 5926"/>
            </a:avLst>
          </a:prstGeom>
          <a:solidFill>
            <a:srgbClr val="EAF2FF"/>
          </a:solidFill>
          <a:ln w="12700">
            <a:solidFill>
              <a:srgbClr val="CFE0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681728" y="1581912"/>
            <a:ext cx="279806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162033"/>
                </a:solidFill>
              </a:rPr>
              <a:t>Professional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681728" y="1892808"/>
            <a:ext cx="2798064" cy="6126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8768A"/>
                </a:solidFill>
              </a:rPr>
              <a:t>NT$35,000 / 月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68768A"/>
                </a:solidFill>
              </a:rPr>
              <a:t>約 500 筆 RFQ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68768A"/>
                </a:solidFill>
              </a:rPr>
              <a:t>適合有多名業助的公司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8229600" y="1417320"/>
            <a:ext cx="320040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DDE6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430768" y="1581912"/>
            <a:ext cx="279806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162033"/>
                </a:solidFill>
              </a:rPr>
              <a:t>Enterprise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8430768" y="1892808"/>
            <a:ext cx="2798064" cy="6126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8768A"/>
                </a:solidFill>
              </a:rPr>
              <a:t>客製報價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68768A"/>
                </a:solidFill>
              </a:rPr>
              <a:t>ERP 串接 / 權限 / SLA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68768A"/>
                </a:solidFill>
              </a:rPr>
              <a:t>適合大型客戶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960120" y="3246120"/>
            <a:ext cx="4800600" cy="1600200"/>
          </a:xfrm>
          <a:prstGeom prst="roundRect">
            <a:avLst>
              <a:gd name="adj" fmla="val 4571"/>
            </a:avLst>
          </a:prstGeom>
          <a:solidFill>
            <a:srgbClr val="FFFFFF"/>
          </a:solidFill>
          <a:ln w="12700">
            <a:solidFill>
              <a:srgbClr val="DDE6F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161288" y="3410712"/>
            <a:ext cx="439826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62033"/>
                </a:solidFill>
              </a:rPr>
              <a:t>收入來源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1179576" y="3749040"/>
            <a:ext cx="436168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8768A"/>
                </a:solidFill>
              </a:rPr>
              <a:t>• SaaS 月費：固定訂閱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68768A"/>
                </a:solidFill>
              </a:rPr>
              <a:t>• 導入費：料號與成本資料整理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68768A"/>
                </a:solidFill>
              </a:rPr>
              <a:t>• 超量費：超出 RFQ 筆數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68768A"/>
                </a:solidFill>
              </a:rPr>
              <a:t>• 企業客製：ERP、權限、私有部署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6400800" y="3246120"/>
            <a:ext cx="4800600" cy="1600200"/>
          </a:xfrm>
          <a:prstGeom prst="roundRect">
            <a:avLst>
              <a:gd name="adj" fmla="val 4571"/>
            </a:avLst>
          </a:prstGeom>
          <a:solidFill>
            <a:srgbClr val="EAF8F2"/>
          </a:solidFill>
          <a:ln w="12700">
            <a:solidFill>
              <a:srgbClr val="CCECDD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601968" y="3410712"/>
            <a:ext cx="439826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62033"/>
                </a:solidFill>
              </a:rPr>
              <a:t>為什麼客戶願意付？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620256" y="3749040"/>
            <a:ext cx="436168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8768A"/>
                </a:solidFill>
              </a:rPr>
              <a:t>• 節省業助工時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68768A"/>
                </a:solidFill>
              </a:rPr>
              <a:t>• 報價速度變快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68768A"/>
                </a:solidFill>
              </a:rPr>
              <a:t>• 減少低價值重複工作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68768A"/>
                </a:solidFill>
              </a:rPr>
              <a:t>• 老闆可以用 ROI Dashboard 看成果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29184"/>
            <a:ext cx="1097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377DFF"/>
                </a:solidFill>
              </a:rPr>
              <a:t>08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594360" y="594360"/>
            <a:ext cx="10698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62033"/>
                </a:solidFill>
              </a:rPr>
              <a:t>工作拆分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621792" y="1097280"/>
            <a:ext cx="10607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68768A"/>
                </a:solidFill>
              </a:rPr>
              <a:t>把專案拆成 6 條工作線，避免只做出漂亮 Demo。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9921240" y="6473952"/>
            <a:ext cx="1554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8A98AA"/>
                </a:solidFill>
              </a:rPr>
              <a:t>RFQ Pilot｜8/12</a:t>
            </a:r>
            <a:endParaRPr lang="en-US" sz="700" dirty="0"/>
          </a:p>
        </p:txBody>
      </p:sp>
      <p:sp>
        <p:nvSpPr>
          <p:cNvPr id="6" name="Shape 4"/>
          <p:cNvSpPr/>
          <p:nvPr/>
        </p:nvSpPr>
        <p:spPr>
          <a:xfrm>
            <a:off x="640080" y="1417320"/>
            <a:ext cx="3246120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12700">
            <a:solidFill>
              <a:srgbClr val="DDE6F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04672" y="1563624"/>
            <a:ext cx="1819656" cy="256032"/>
          </a:xfrm>
          <a:prstGeom prst="roundRect">
            <a:avLst>
              <a:gd name="adj" fmla="val 21429"/>
            </a:avLst>
          </a:prstGeom>
          <a:solidFill>
            <a:srgbClr val="EAF2FF"/>
          </a:solidFill>
          <a:ln w="12700">
            <a:solidFill>
              <a:srgbClr val="EAF2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77824" y="1627632"/>
            <a:ext cx="1673352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b="1" dirty="0">
                <a:solidFill>
                  <a:srgbClr val="377DFF"/>
                </a:solidFill>
              </a:rPr>
              <a:t>Workstream 1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841248" y="1892808"/>
            <a:ext cx="28437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162033"/>
                </a:solidFill>
              </a:rPr>
              <a:t>產品 / 產業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841248" y="2185416"/>
            <a:ext cx="2843784" cy="411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8768A"/>
                </a:solidFill>
              </a:rPr>
              <a:t>訪談、RFQ 樣本、流程規則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4434840" y="1417320"/>
            <a:ext cx="3246120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12700">
            <a:solidFill>
              <a:srgbClr val="DDE6F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599432" y="1563624"/>
            <a:ext cx="1819656" cy="256032"/>
          </a:xfrm>
          <a:prstGeom prst="roundRect">
            <a:avLst>
              <a:gd name="adj" fmla="val 21429"/>
            </a:avLst>
          </a:prstGeom>
          <a:solidFill>
            <a:srgbClr val="EAF2FF"/>
          </a:solidFill>
          <a:ln w="12700">
            <a:solidFill>
              <a:srgbClr val="EAF2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672584" y="1627632"/>
            <a:ext cx="1673352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b="1" dirty="0">
                <a:solidFill>
                  <a:srgbClr val="377DFF"/>
                </a:solidFill>
              </a:rPr>
              <a:t>Workstream 2</a:t>
            </a:r>
            <a:endParaRPr lang="en-US" sz="750" dirty="0"/>
          </a:p>
        </p:txBody>
      </p:sp>
      <p:sp>
        <p:nvSpPr>
          <p:cNvPr id="14" name="Text 12"/>
          <p:cNvSpPr/>
          <p:nvPr/>
        </p:nvSpPr>
        <p:spPr>
          <a:xfrm>
            <a:off x="4636008" y="1892808"/>
            <a:ext cx="28437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162033"/>
                </a:solidFill>
              </a:rPr>
              <a:t>資料 / ERP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636008" y="2185416"/>
            <a:ext cx="2843784" cy="411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8768A"/>
                </a:solidFill>
              </a:rPr>
              <a:t>料號表、成本、庫存、歷史價格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8229600" y="1417320"/>
            <a:ext cx="3246120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12700">
            <a:solidFill>
              <a:srgbClr val="DDE6F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394192" y="1563624"/>
            <a:ext cx="1819656" cy="256032"/>
          </a:xfrm>
          <a:prstGeom prst="roundRect">
            <a:avLst>
              <a:gd name="adj" fmla="val 21429"/>
            </a:avLst>
          </a:prstGeom>
          <a:solidFill>
            <a:srgbClr val="EAF2FF"/>
          </a:solidFill>
          <a:ln w="12700">
            <a:solidFill>
              <a:srgbClr val="EAF2F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467344" y="1627632"/>
            <a:ext cx="1673352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b="1" dirty="0">
                <a:solidFill>
                  <a:srgbClr val="377DFF"/>
                </a:solidFill>
              </a:rPr>
              <a:t>Workstream 3</a:t>
            </a:r>
            <a:endParaRPr lang="en-US" sz="750" dirty="0"/>
          </a:p>
        </p:txBody>
      </p:sp>
      <p:sp>
        <p:nvSpPr>
          <p:cNvPr id="19" name="Text 17"/>
          <p:cNvSpPr/>
          <p:nvPr/>
        </p:nvSpPr>
        <p:spPr>
          <a:xfrm>
            <a:off x="8430768" y="1892808"/>
            <a:ext cx="28437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162033"/>
                </a:solidFill>
              </a:rPr>
              <a:t>AI / Parser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8430768" y="2185416"/>
            <a:ext cx="2843784" cy="411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8768A"/>
                </a:solidFill>
              </a:rPr>
              <a:t>Email、Excel、PDF、欄位抽取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640080" y="3337560"/>
            <a:ext cx="3246120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12700">
            <a:solidFill>
              <a:srgbClr val="DDE6F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804672" y="3483864"/>
            <a:ext cx="1819656" cy="256032"/>
          </a:xfrm>
          <a:prstGeom prst="roundRect">
            <a:avLst>
              <a:gd name="adj" fmla="val 21429"/>
            </a:avLst>
          </a:prstGeom>
          <a:solidFill>
            <a:srgbClr val="EAF2FF"/>
          </a:solidFill>
          <a:ln w="12700">
            <a:solidFill>
              <a:srgbClr val="EAF2F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77824" y="3547872"/>
            <a:ext cx="1673352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b="1" dirty="0">
                <a:solidFill>
                  <a:srgbClr val="377DFF"/>
                </a:solidFill>
              </a:rPr>
              <a:t>Workstream 4</a:t>
            </a:r>
            <a:endParaRPr lang="en-US" sz="750" dirty="0"/>
          </a:p>
        </p:txBody>
      </p:sp>
      <p:sp>
        <p:nvSpPr>
          <p:cNvPr id="24" name="Text 22"/>
          <p:cNvSpPr/>
          <p:nvPr/>
        </p:nvSpPr>
        <p:spPr>
          <a:xfrm>
            <a:off x="841248" y="3813048"/>
            <a:ext cx="28437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162033"/>
                </a:solidFill>
              </a:rPr>
              <a:t>後端 / Workflow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841248" y="4105656"/>
            <a:ext cx="2843784" cy="411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8768A"/>
                </a:solidFill>
              </a:rPr>
              <a:t>狀態機、Validation、Pricing API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4434840" y="3337560"/>
            <a:ext cx="3246120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12700">
            <a:solidFill>
              <a:srgbClr val="DDE6F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599432" y="3483864"/>
            <a:ext cx="1819656" cy="256032"/>
          </a:xfrm>
          <a:prstGeom prst="roundRect">
            <a:avLst>
              <a:gd name="adj" fmla="val 21429"/>
            </a:avLst>
          </a:prstGeom>
          <a:solidFill>
            <a:srgbClr val="EAF2FF"/>
          </a:solidFill>
          <a:ln w="12700">
            <a:solidFill>
              <a:srgbClr val="EAF2FF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672584" y="3547872"/>
            <a:ext cx="1673352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b="1" dirty="0">
                <a:solidFill>
                  <a:srgbClr val="377DFF"/>
                </a:solidFill>
              </a:rPr>
              <a:t>Workstream 5</a:t>
            </a:r>
            <a:endParaRPr lang="en-US" sz="750" dirty="0"/>
          </a:p>
        </p:txBody>
      </p:sp>
      <p:sp>
        <p:nvSpPr>
          <p:cNvPr id="29" name="Text 27"/>
          <p:cNvSpPr/>
          <p:nvPr/>
        </p:nvSpPr>
        <p:spPr>
          <a:xfrm>
            <a:off x="4636008" y="3813048"/>
            <a:ext cx="28437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162033"/>
                </a:solidFill>
              </a:rPr>
              <a:t>前端 / UX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4636008" y="4105656"/>
            <a:ext cx="2843784" cy="411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8768A"/>
                </a:solidFill>
              </a:rPr>
              <a:t>Inbox、料號確認、報價草稿、ROI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8229600" y="3337560"/>
            <a:ext cx="3246120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12700">
            <a:solidFill>
              <a:srgbClr val="DDE6F0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8394192" y="3483864"/>
            <a:ext cx="1819656" cy="256032"/>
          </a:xfrm>
          <a:prstGeom prst="roundRect">
            <a:avLst>
              <a:gd name="adj" fmla="val 21429"/>
            </a:avLst>
          </a:prstGeom>
          <a:solidFill>
            <a:srgbClr val="EAF2FF"/>
          </a:solidFill>
          <a:ln w="12700">
            <a:solidFill>
              <a:srgbClr val="EAF2F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8467344" y="3547872"/>
            <a:ext cx="1673352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b="1" dirty="0">
                <a:solidFill>
                  <a:srgbClr val="377DFF"/>
                </a:solidFill>
              </a:rPr>
              <a:t>Workstream 6</a:t>
            </a:r>
            <a:endParaRPr lang="en-US" sz="750" dirty="0"/>
          </a:p>
        </p:txBody>
      </p:sp>
      <p:sp>
        <p:nvSpPr>
          <p:cNvPr id="34" name="Text 32"/>
          <p:cNvSpPr/>
          <p:nvPr/>
        </p:nvSpPr>
        <p:spPr>
          <a:xfrm>
            <a:off x="8430768" y="3813048"/>
            <a:ext cx="28437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162033"/>
                </a:solidFill>
              </a:rPr>
              <a:t>測試 / 導入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8430768" y="4105656"/>
            <a:ext cx="2843784" cy="411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8768A"/>
                </a:solidFill>
              </a:rPr>
              <a:t>真實 RFQ 測試、修正、教學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29184"/>
            <a:ext cx="1097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377DFF"/>
                </a:solidFill>
              </a:rPr>
              <a:t>09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594360" y="594360"/>
            <a:ext cx="10698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62033"/>
                </a:solidFill>
              </a:rPr>
              <a:t>12 週專案時程 + 甘特圖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621792" y="1097280"/>
            <a:ext cx="10607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68768A"/>
                </a:solidFill>
              </a:rPr>
              <a:t>先做出可被 3–5 家客戶試用的 MVP。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9921240" y="6473952"/>
            <a:ext cx="1554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8A98AA"/>
                </a:solidFill>
              </a:rPr>
              <a:t>RFQ Pilot｜9/12</a:t>
            </a:r>
            <a:endParaRPr lang="en-US" sz="700" dirty="0"/>
          </a:p>
        </p:txBody>
      </p:sp>
      <p:sp>
        <p:nvSpPr>
          <p:cNvPr id="6" name="Text 4"/>
          <p:cNvSpPr/>
          <p:nvPr/>
        </p:nvSpPr>
        <p:spPr>
          <a:xfrm>
            <a:off x="2834640" y="1143000"/>
            <a:ext cx="34747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68768A"/>
                </a:solidFill>
              </a:rPr>
              <a:t>1</a:t>
            </a:r>
            <a:endParaRPr lang="en-US" sz="700" dirty="0"/>
          </a:p>
        </p:txBody>
      </p:sp>
      <p:sp>
        <p:nvSpPr>
          <p:cNvPr id="7" name="Text 5"/>
          <p:cNvSpPr/>
          <p:nvPr/>
        </p:nvSpPr>
        <p:spPr>
          <a:xfrm>
            <a:off x="3401568" y="1143000"/>
            <a:ext cx="34747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68768A"/>
                </a:solidFill>
              </a:rPr>
              <a:t>2</a:t>
            </a:r>
            <a:endParaRPr lang="en-US" sz="700" dirty="0"/>
          </a:p>
        </p:txBody>
      </p:sp>
      <p:sp>
        <p:nvSpPr>
          <p:cNvPr id="8" name="Text 6"/>
          <p:cNvSpPr/>
          <p:nvPr/>
        </p:nvSpPr>
        <p:spPr>
          <a:xfrm>
            <a:off x="3968496" y="1143000"/>
            <a:ext cx="34747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68768A"/>
                </a:solidFill>
              </a:rPr>
              <a:t>3</a:t>
            </a:r>
            <a:endParaRPr lang="en-US" sz="700" dirty="0"/>
          </a:p>
        </p:txBody>
      </p:sp>
      <p:sp>
        <p:nvSpPr>
          <p:cNvPr id="9" name="Text 7"/>
          <p:cNvSpPr/>
          <p:nvPr/>
        </p:nvSpPr>
        <p:spPr>
          <a:xfrm>
            <a:off x="4535424" y="1143000"/>
            <a:ext cx="34747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68768A"/>
                </a:solidFill>
              </a:rPr>
              <a:t>4</a:t>
            </a:r>
            <a:endParaRPr lang="en-US" sz="700" dirty="0"/>
          </a:p>
        </p:txBody>
      </p:sp>
      <p:sp>
        <p:nvSpPr>
          <p:cNvPr id="10" name="Text 8"/>
          <p:cNvSpPr/>
          <p:nvPr/>
        </p:nvSpPr>
        <p:spPr>
          <a:xfrm>
            <a:off x="5102352" y="1143000"/>
            <a:ext cx="34747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68768A"/>
                </a:solidFill>
              </a:rPr>
              <a:t>5</a:t>
            </a:r>
            <a:endParaRPr lang="en-US" sz="700" dirty="0"/>
          </a:p>
        </p:txBody>
      </p:sp>
      <p:sp>
        <p:nvSpPr>
          <p:cNvPr id="11" name="Text 9"/>
          <p:cNvSpPr/>
          <p:nvPr/>
        </p:nvSpPr>
        <p:spPr>
          <a:xfrm>
            <a:off x="5669280" y="1143000"/>
            <a:ext cx="34747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68768A"/>
                </a:solidFill>
              </a:rPr>
              <a:t>6</a:t>
            </a:r>
            <a:endParaRPr lang="en-US" sz="700" dirty="0"/>
          </a:p>
        </p:txBody>
      </p:sp>
      <p:sp>
        <p:nvSpPr>
          <p:cNvPr id="12" name="Text 10"/>
          <p:cNvSpPr/>
          <p:nvPr/>
        </p:nvSpPr>
        <p:spPr>
          <a:xfrm>
            <a:off x="6236208" y="1143000"/>
            <a:ext cx="34747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68768A"/>
                </a:solidFill>
              </a:rPr>
              <a:t>7</a:t>
            </a:r>
            <a:endParaRPr lang="en-US" sz="700" dirty="0"/>
          </a:p>
        </p:txBody>
      </p:sp>
      <p:sp>
        <p:nvSpPr>
          <p:cNvPr id="13" name="Text 11"/>
          <p:cNvSpPr/>
          <p:nvPr/>
        </p:nvSpPr>
        <p:spPr>
          <a:xfrm>
            <a:off x="6803136" y="1143000"/>
            <a:ext cx="34747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68768A"/>
                </a:solidFill>
              </a:rPr>
              <a:t>8</a:t>
            </a:r>
            <a:endParaRPr lang="en-US" sz="700" dirty="0"/>
          </a:p>
        </p:txBody>
      </p:sp>
      <p:sp>
        <p:nvSpPr>
          <p:cNvPr id="14" name="Text 12"/>
          <p:cNvSpPr/>
          <p:nvPr/>
        </p:nvSpPr>
        <p:spPr>
          <a:xfrm>
            <a:off x="7370064" y="1143000"/>
            <a:ext cx="34747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68768A"/>
                </a:solidFill>
              </a:rPr>
              <a:t>9</a:t>
            </a:r>
            <a:endParaRPr lang="en-US" sz="700" dirty="0"/>
          </a:p>
        </p:txBody>
      </p:sp>
      <p:sp>
        <p:nvSpPr>
          <p:cNvPr id="15" name="Text 13"/>
          <p:cNvSpPr/>
          <p:nvPr/>
        </p:nvSpPr>
        <p:spPr>
          <a:xfrm>
            <a:off x="7936992" y="1143000"/>
            <a:ext cx="34747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68768A"/>
                </a:solidFill>
              </a:rPr>
              <a:t>10</a:t>
            </a:r>
            <a:endParaRPr lang="en-US" sz="700" dirty="0"/>
          </a:p>
        </p:txBody>
      </p:sp>
      <p:sp>
        <p:nvSpPr>
          <p:cNvPr id="16" name="Text 14"/>
          <p:cNvSpPr/>
          <p:nvPr/>
        </p:nvSpPr>
        <p:spPr>
          <a:xfrm>
            <a:off x="8503920" y="1143000"/>
            <a:ext cx="34747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68768A"/>
                </a:solidFill>
              </a:rPr>
              <a:t>11</a:t>
            </a:r>
            <a:endParaRPr lang="en-US" sz="700" dirty="0"/>
          </a:p>
        </p:txBody>
      </p:sp>
      <p:sp>
        <p:nvSpPr>
          <p:cNvPr id="17" name="Text 15"/>
          <p:cNvSpPr/>
          <p:nvPr/>
        </p:nvSpPr>
        <p:spPr>
          <a:xfrm>
            <a:off x="9070848" y="1143000"/>
            <a:ext cx="34747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68768A"/>
                </a:solidFill>
              </a:rPr>
              <a:t>12</a:t>
            </a:r>
            <a:endParaRPr lang="en-US" sz="700" dirty="0"/>
          </a:p>
        </p:txBody>
      </p:sp>
      <p:sp>
        <p:nvSpPr>
          <p:cNvPr id="18" name="Text 16"/>
          <p:cNvSpPr/>
          <p:nvPr/>
        </p:nvSpPr>
        <p:spPr>
          <a:xfrm>
            <a:off x="731520" y="1554480"/>
            <a:ext cx="164592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b="1" dirty="0">
                <a:solidFill>
                  <a:srgbClr val="162033"/>
                </a:solidFill>
              </a:rPr>
              <a:t>需求訪談</a:t>
            </a:r>
            <a:endParaRPr lang="en-US" sz="820" dirty="0"/>
          </a:p>
        </p:txBody>
      </p:sp>
      <p:sp>
        <p:nvSpPr>
          <p:cNvPr id="19" name="Shape 17"/>
          <p:cNvSpPr/>
          <p:nvPr/>
        </p:nvSpPr>
        <p:spPr>
          <a:xfrm>
            <a:off x="2834640" y="1508760"/>
            <a:ext cx="1060704" cy="228600"/>
          </a:xfrm>
          <a:prstGeom prst="roundRect">
            <a:avLst>
              <a:gd name="adj" fmla="val 16000"/>
            </a:avLst>
          </a:prstGeom>
          <a:solidFill>
            <a:srgbClr val="377DFF"/>
          </a:solidFill>
          <a:ln w="12700">
            <a:solidFill>
              <a:srgbClr val="377DF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31520" y="2057400"/>
            <a:ext cx="164592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b="1" dirty="0">
                <a:solidFill>
                  <a:srgbClr val="162033"/>
                </a:solidFill>
              </a:rPr>
              <a:t>資料整理</a:t>
            </a:r>
            <a:endParaRPr lang="en-US" sz="820" dirty="0"/>
          </a:p>
        </p:txBody>
      </p:sp>
      <p:sp>
        <p:nvSpPr>
          <p:cNvPr id="21" name="Shape 19"/>
          <p:cNvSpPr/>
          <p:nvPr/>
        </p:nvSpPr>
        <p:spPr>
          <a:xfrm>
            <a:off x="2834640" y="2011680"/>
            <a:ext cx="1627632" cy="228600"/>
          </a:xfrm>
          <a:prstGeom prst="roundRect">
            <a:avLst>
              <a:gd name="adj" fmla="val 16000"/>
            </a:avLst>
          </a:prstGeom>
          <a:solidFill>
            <a:srgbClr val="23996B"/>
          </a:solidFill>
          <a:ln w="12700">
            <a:solidFill>
              <a:srgbClr val="23996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31520" y="2560320"/>
            <a:ext cx="164592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b="1" dirty="0">
                <a:solidFill>
                  <a:srgbClr val="162033"/>
                </a:solidFill>
              </a:rPr>
              <a:t>Parser / AI</a:t>
            </a:r>
            <a:endParaRPr lang="en-US" sz="820" dirty="0"/>
          </a:p>
        </p:txBody>
      </p:sp>
      <p:sp>
        <p:nvSpPr>
          <p:cNvPr id="23" name="Shape 21"/>
          <p:cNvSpPr/>
          <p:nvPr/>
        </p:nvSpPr>
        <p:spPr>
          <a:xfrm>
            <a:off x="3401568" y="2514600"/>
            <a:ext cx="2761488" cy="228600"/>
          </a:xfrm>
          <a:prstGeom prst="roundRect">
            <a:avLst>
              <a:gd name="adj" fmla="val 16000"/>
            </a:avLst>
          </a:prstGeom>
          <a:solidFill>
            <a:srgbClr val="377DFF"/>
          </a:solidFill>
          <a:ln w="12700">
            <a:solidFill>
              <a:srgbClr val="377DF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31520" y="3063240"/>
            <a:ext cx="164592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b="1" dirty="0">
                <a:solidFill>
                  <a:srgbClr val="162033"/>
                </a:solidFill>
              </a:rPr>
              <a:t>ERP / DB</a:t>
            </a:r>
            <a:endParaRPr lang="en-US" sz="820" dirty="0"/>
          </a:p>
        </p:txBody>
      </p:sp>
      <p:sp>
        <p:nvSpPr>
          <p:cNvPr id="25" name="Shape 23"/>
          <p:cNvSpPr/>
          <p:nvPr/>
        </p:nvSpPr>
        <p:spPr>
          <a:xfrm>
            <a:off x="3968496" y="3017520"/>
            <a:ext cx="2761488" cy="228600"/>
          </a:xfrm>
          <a:prstGeom prst="roundRect">
            <a:avLst>
              <a:gd name="adj" fmla="val 16000"/>
            </a:avLst>
          </a:prstGeom>
          <a:solidFill>
            <a:srgbClr val="23996B"/>
          </a:solidFill>
          <a:ln w="12700">
            <a:solidFill>
              <a:srgbClr val="23996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31520" y="3566160"/>
            <a:ext cx="164592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b="1" dirty="0">
                <a:solidFill>
                  <a:srgbClr val="162033"/>
                </a:solidFill>
              </a:rPr>
              <a:t>前端 UI</a:t>
            </a:r>
            <a:endParaRPr lang="en-US" sz="820" dirty="0"/>
          </a:p>
        </p:txBody>
      </p:sp>
      <p:sp>
        <p:nvSpPr>
          <p:cNvPr id="27" name="Shape 25"/>
          <p:cNvSpPr/>
          <p:nvPr/>
        </p:nvSpPr>
        <p:spPr>
          <a:xfrm>
            <a:off x="4535424" y="3520440"/>
            <a:ext cx="2761488" cy="228600"/>
          </a:xfrm>
          <a:prstGeom prst="roundRect">
            <a:avLst>
              <a:gd name="adj" fmla="val 16000"/>
            </a:avLst>
          </a:prstGeom>
          <a:solidFill>
            <a:srgbClr val="377DFF"/>
          </a:solidFill>
          <a:ln w="12700">
            <a:solidFill>
              <a:srgbClr val="377DFF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31520" y="4069080"/>
            <a:ext cx="164592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b="1" dirty="0">
                <a:solidFill>
                  <a:srgbClr val="162033"/>
                </a:solidFill>
              </a:rPr>
              <a:t>Rules / Workflow</a:t>
            </a:r>
            <a:endParaRPr lang="en-US" sz="820" dirty="0"/>
          </a:p>
        </p:txBody>
      </p:sp>
      <p:sp>
        <p:nvSpPr>
          <p:cNvPr id="29" name="Shape 27"/>
          <p:cNvSpPr/>
          <p:nvPr/>
        </p:nvSpPr>
        <p:spPr>
          <a:xfrm>
            <a:off x="5669280" y="4023360"/>
            <a:ext cx="2194560" cy="228600"/>
          </a:xfrm>
          <a:prstGeom prst="roundRect">
            <a:avLst>
              <a:gd name="adj" fmla="val 16000"/>
            </a:avLst>
          </a:prstGeom>
          <a:solidFill>
            <a:srgbClr val="A96F0A"/>
          </a:solidFill>
          <a:ln w="12700">
            <a:solidFill>
              <a:srgbClr val="A96F0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31520" y="4572000"/>
            <a:ext cx="164592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b="1" dirty="0">
                <a:solidFill>
                  <a:srgbClr val="162033"/>
                </a:solidFill>
              </a:rPr>
              <a:t>測試修正</a:t>
            </a:r>
            <a:endParaRPr lang="en-US" sz="820" dirty="0"/>
          </a:p>
        </p:txBody>
      </p:sp>
      <p:sp>
        <p:nvSpPr>
          <p:cNvPr id="31" name="Shape 29"/>
          <p:cNvSpPr/>
          <p:nvPr/>
        </p:nvSpPr>
        <p:spPr>
          <a:xfrm>
            <a:off x="7370064" y="4526280"/>
            <a:ext cx="1627632" cy="228600"/>
          </a:xfrm>
          <a:prstGeom prst="roundRect">
            <a:avLst>
              <a:gd name="adj" fmla="val 16000"/>
            </a:avLst>
          </a:prstGeom>
          <a:solidFill>
            <a:srgbClr val="D95060"/>
          </a:solidFill>
          <a:ln w="12700">
            <a:solidFill>
              <a:srgbClr val="D9506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31520" y="5074920"/>
            <a:ext cx="164592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b="1" dirty="0">
                <a:solidFill>
                  <a:srgbClr val="162033"/>
                </a:solidFill>
              </a:rPr>
              <a:t>Pilot 上線</a:t>
            </a:r>
            <a:endParaRPr lang="en-US" sz="820" dirty="0"/>
          </a:p>
        </p:txBody>
      </p:sp>
      <p:sp>
        <p:nvSpPr>
          <p:cNvPr id="33" name="Shape 31"/>
          <p:cNvSpPr/>
          <p:nvPr/>
        </p:nvSpPr>
        <p:spPr>
          <a:xfrm>
            <a:off x="8503920" y="5029200"/>
            <a:ext cx="1060704" cy="228600"/>
          </a:xfrm>
          <a:prstGeom prst="roundRect">
            <a:avLst>
              <a:gd name="adj" fmla="val 16000"/>
            </a:avLst>
          </a:prstGeom>
          <a:solidFill>
            <a:srgbClr val="23996B"/>
          </a:solidFill>
          <a:ln w="12700">
            <a:solidFill>
              <a:srgbClr val="23996B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731520" y="5715000"/>
            <a:ext cx="10515600" cy="475488"/>
          </a:xfrm>
          <a:prstGeom prst="roundRect">
            <a:avLst>
              <a:gd name="adj" fmla="val 15385"/>
            </a:avLst>
          </a:prstGeom>
          <a:solidFill>
            <a:srgbClr val="0E1A2C"/>
          </a:solidFill>
          <a:ln w="12700">
            <a:solidFill>
              <a:srgbClr val="0E1A2C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932688" y="5879592"/>
            <a:ext cx="1011326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目標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932688" y="6190488"/>
            <a:ext cx="10113264" cy="-1463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CAD7EA"/>
                </a:solidFill>
              </a:rPr>
              <a:t>第 12 週交付：可上傳真實 RFQ、可產生報價草稿、可人工覆核、可看 ROI 的 MVP。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29184"/>
            <a:ext cx="1097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377DFF"/>
                </a:solidFill>
              </a:rPr>
              <a:t>10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594360" y="594360"/>
            <a:ext cx="10698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62033"/>
                </a:solidFill>
              </a:rPr>
              <a:t>產品開發人力配置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621792" y="1097280"/>
            <a:ext cx="10607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68768A"/>
                </a:solidFill>
              </a:rPr>
              <a:t>MVP 團隊不用大，但要有人懂 AI、前端、產業流程。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9921240" y="6473952"/>
            <a:ext cx="1554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8A98AA"/>
                </a:solidFill>
              </a:rPr>
              <a:t>RFQ Pilot｜10/12</a:t>
            </a:r>
            <a:endParaRPr lang="en-US" sz="700" dirty="0"/>
          </a:p>
        </p:txBody>
      </p:sp>
      <p:sp>
        <p:nvSpPr>
          <p:cNvPr id="6" name="Shape 4"/>
          <p:cNvSpPr/>
          <p:nvPr/>
        </p:nvSpPr>
        <p:spPr>
          <a:xfrm>
            <a:off x="731520" y="1417320"/>
            <a:ext cx="4892040" cy="1234440"/>
          </a:xfrm>
          <a:prstGeom prst="roundRect">
            <a:avLst>
              <a:gd name="adj" fmla="val 5926"/>
            </a:avLst>
          </a:prstGeom>
          <a:solidFill>
            <a:srgbClr val="EAF2FF"/>
          </a:solidFill>
          <a:ln w="12700">
            <a:solidFill>
              <a:srgbClr val="CFE0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32688" y="1581912"/>
            <a:ext cx="44897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162033"/>
                </a:solidFill>
              </a:rPr>
              <a:t>AI / Backend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932688" y="1892808"/>
            <a:ext cx="4489704" cy="6126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8768A"/>
                </a:solidFill>
              </a:rPr>
              <a:t>1 人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68768A"/>
                </a:solidFill>
              </a:rPr>
              <a:t>Parser、LLM、DB、API、Workflow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6309360" y="1417320"/>
            <a:ext cx="489204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DDE6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510528" y="1581912"/>
            <a:ext cx="44897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162033"/>
                </a:solidFill>
              </a:rPr>
              <a:t>Frontend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510528" y="1892808"/>
            <a:ext cx="4489704" cy="6126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8768A"/>
                </a:solidFill>
              </a:rPr>
              <a:t>1 人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68768A"/>
                </a:solidFill>
              </a:rPr>
              <a:t>Inbox、料號確認、報價草稿、Dashboard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731520" y="3291840"/>
            <a:ext cx="4892040" cy="1234440"/>
          </a:xfrm>
          <a:prstGeom prst="roundRect">
            <a:avLst>
              <a:gd name="adj" fmla="val 5926"/>
            </a:avLst>
          </a:prstGeom>
          <a:solidFill>
            <a:srgbClr val="EAF8F2"/>
          </a:solidFill>
          <a:ln w="12700">
            <a:solidFill>
              <a:srgbClr val="CCECD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32688" y="3456432"/>
            <a:ext cx="44897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162033"/>
                </a:solidFill>
              </a:rPr>
              <a:t>PM / 產業顧問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32688" y="3767328"/>
            <a:ext cx="4489704" cy="6126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8768A"/>
                </a:solidFill>
              </a:rPr>
              <a:t>0.5–1 人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68768A"/>
                </a:solidFill>
              </a:rPr>
              <a:t>訪談、規則、RFQ 樣本、驗收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6309360" y="3291840"/>
            <a:ext cx="4892040" cy="1234440"/>
          </a:xfrm>
          <a:prstGeom prst="roundRect">
            <a:avLst>
              <a:gd name="adj" fmla="val 5926"/>
            </a:avLst>
          </a:prstGeom>
          <a:solidFill>
            <a:srgbClr val="FFF7DF"/>
          </a:solidFill>
          <a:ln w="12700">
            <a:solidFill>
              <a:srgbClr val="FFE9A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510528" y="3456432"/>
            <a:ext cx="44897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162033"/>
                </a:solidFill>
              </a:rPr>
              <a:t>QA / 導入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510528" y="3767328"/>
            <a:ext cx="4489704" cy="6126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8768A"/>
                </a:solidFill>
              </a:rPr>
              <a:t>0.5 人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68768A"/>
                </a:solidFill>
              </a:rPr>
              <a:t>第 8 週後加入，測試與教學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914400" y="5486400"/>
            <a:ext cx="10332720" cy="512064"/>
          </a:xfrm>
          <a:prstGeom prst="roundRect">
            <a:avLst>
              <a:gd name="adj" fmla="val 14286"/>
            </a:avLst>
          </a:prstGeom>
          <a:solidFill>
            <a:srgbClr val="0E1A2C"/>
          </a:solidFill>
          <a:ln w="12700">
            <a:solidFill>
              <a:srgbClr val="0E1A2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115568" y="5650992"/>
            <a:ext cx="99303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最小可行配置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1115568" y="5961888"/>
            <a:ext cx="9930384" cy="-1097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CAD7EA"/>
                </a:solidFill>
              </a:rPr>
              <a:t>1 位 AI/後端 + 1 位前端 + 0.5–1 位產品/產業顧問；Pilot 後期補 QA / 導入支援。</a:t>
            </a:r>
            <a:endParaRPr lang="en-US" sz="8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29184"/>
            <a:ext cx="1097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377DFF"/>
                </a:solidFill>
              </a:rPr>
              <a:t>11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594360" y="594360"/>
            <a:ext cx="10698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62033"/>
                </a:solidFill>
              </a:rPr>
              <a:t>最大風險與解法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621792" y="1097280"/>
            <a:ext cx="10607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68768A"/>
                </a:solidFill>
              </a:rPr>
              <a:t>真正難的不是 AI，而是企業資料與流程。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9921240" y="6473952"/>
            <a:ext cx="1554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8A98AA"/>
                </a:solidFill>
              </a:rPr>
              <a:t>RFQ Pilot｜11/12</a:t>
            </a:r>
            <a:endParaRPr lang="en-US" sz="700" dirty="0"/>
          </a:p>
        </p:txBody>
      </p:sp>
      <p:sp>
        <p:nvSpPr>
          <p:cNvPr id="6" name="Shape 4"/>
          <p:cNvSpPr/>
          <p:nvPr/>
        </p:nvSpPr>
        <p:spPr>
          <a:xfrm>
            <a:off x="731520" y="1371600"/>
            <a:ext cx="3246120" cy="1325880"/>
          </a:xfrm>
          <a:prstGeom prst="roundRect">
            <a:avLst>
              <a:gd name="adj" fmla="val 5517"/>
            </a:avLst>
          </a:prstGeom>
          <a:solidFill>
            <a:srgbClr val="FFF0F2"/>
          </a:solidFill>
          <a:ln w="12700">
            <a:solidFill>
              <a:srgbClr val="FFD1D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32688" y="1536192"/>
            <a:ext cx="28437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162033"/>
                </a:solidFill>
              </a:rPr>
              <a:t>風險 1：資料髒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932688" y="1847088"/>
            <a:ext cx="2843784" cy="7040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8768A"/>
                </a:solidFill>
              </a:rPr>
              <a:t>ERP 成本舊、庫存不準、料號命名混亂。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4480560" y="1371600"/>
            <a:ext cx="3246120" cy="1325880"/>
          </a:xfrm>
          <a:prstGeom prst="roundRect">
            <a:avLst>
              <a:gd name="adj" fmla="val 5517"/>
            </a:avLst>
          </a:prstGeom>
          <a:solidFill>
            <a:srgbClr val="FFF0F2"/>
          </a:solidFill>
          <a:ln w="12700">
            <a:solidFill>
              <a:srgbClr val="FFD1D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681728" y="1536192"/>
            <a:ext cx="28437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162033"/>
                </a:solidFill>
              </a:rPr>
              <a:t>風險 2：流程不同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681728" y="1847088"/>
            <a:ext cx="2843784" cy="7040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8768A"/>
                </a:solidFill>
              </a:rPr>
              <a:t>每家公司核准、工程確認、供應商詢價流程不同。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8229600" y="1371600"/>
            <a:ext cx="3246120" cy="1325880"/>
          </a:xfrm>
          <a:prstGeom prst="roundRect">
            <a:avLst>
              <a:gd name="adj" fmla="val 5517"/>
            </a:avLst>
          </a:prstGeom>
          <a:solidFill>
            <a:srgbClr val="FFF0F2"/>
          </a:solidFill>
          <a:ln w="12700">
            <a:solidFill>
              <a:srgbClr val="FFD1D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430768" y="1536192"/>
            <a:ext cx="28437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162033"/>
                </a:solidFill>
              </a:rPr>
              <a:t>風險 3：錯價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8430768" y="1847088"/>
            <a:ext cx="2843784" cy="7040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8768A"/>
                </a:solidFill>
              </a:rPr>
              <a:t>AI 少打一個 0，可能造成實際損失。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731520" y="3246120"/>
            <a:ext cx="3246120" cy="1325880"/>
          </a:xfrm>
          <a:prstGeom prst="roundRect">
            <a:avLst>
              <a:gd name="adj" fmla="val 5517"/>
            </a:avLst>
          </a:prstGeom>
          <a:solidFill>
            <a:srgbClr val="EAF8F2"/>
          </a:solidFill>
          <a:ln w="12700">
            <a:solidFill>
              <a:srgbClr val="CCECD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32688" y="3410712"/>
            <a:ext cx="28437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162033"/>
                </a:solidFill>
              </a:rPr>
              <a:t>解法 1：Data Check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932688" y="3721608"/>
            <a:ext cx="2843784" cy="7040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8768A"/>
                </a:solidFill>
              </a:rPr>
              <a:t>成本過期、庫存不足、低於成本要 Warning / Block。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4480560" y="3246120"/>
            <a:ext cx="3246120" cy="1325880"/>
          </a:xfrm>
          <a:prstGeom prst="roundRect">
            <a:avLst>
              <a:gd name="adj" fmla="val 5517"/>
            </a:avLst>
          </a:prstGeom>
          <a:solidFill>
            <a:srgbClr val="EAF8F2"/>
          </a:solidFill>
          <a:ln w="12700">
            <a:solidFill>
              <a:srgbClr val="CCECDD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681728" y="3410712"/>
            <a:ext cx="28437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162033"/>
                </a:solidFill>
              </a:rPr>
              <a:t>解法 2：Workflow Config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681728" y="3721608"/>
            <a:ext cx="2843784" cy="7040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8768A"/>
                </a:solidFill>
              </a:rPr>
              <a:t>流程做成可配置，不為每家公司重寫。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8229600" y="3246120"/>
            <a:ext cx="3246120" cy="1325880"/>
          </a:xfrm>
          <a:prstGeom prst="roundRect">
            <a:avLst>
              <a:gd name="adj" fmla="val 5517"/>
            </a:avLst>
          </a:prstGeom>
          <a:solidFill>
            <a:srgbClr val="EAF8F2"/>
          </a:solidFill>
          <a:ln w="12700">
            <a:solidFill>
              <a:srgbClr val="CCECDD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430768" y="3410712"/>
            <a:ext cx="28437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162033"/>
                </a:solidFill>
              </a:rPr>
              <a:t>解法 3：Human Gate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8430768" y="3721608"/>
            <a:ext cx="2843784" cy="7040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8768A"/>
                </a:solidFill>
              </a:rPr>
              <a:t>正式寄出前一定由人確認。</a:t>
            </a:r>
            <a:endParaRPr lang="en-US" sz="8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29184"/>
            <a:ext cx="1097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377DFF"/>
                </a:solidFill>
              </a:rPr>
              <a:t>12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594360" y="594360"/>
            <a:ext cx="10698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62033"/>
                </a:solidFill>
              </a:rPr>
              <a:t>下一步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621792" y="1097280"/>
            <a:ext cx="10607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68768A"/>
                </a:solidFill>
              </a:rPr>
              <a:t>先拿真實資料驗證，不要只停在 Demo。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9921240" y="6473952"/>
            <a:ext cx="1554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8A98AA"/>
                </a:solidFill>
              </a:rPr>
              <a:t>RFQ Pilot｜12/12</a:t>
            </a:r>
            <a:endParaRPr lang="en-US" sz="700" dirty="0"/>
          </a:p>
        </p:txBody>
      </p:sp>
      <p:sp>
        <p:nvSpPr>
          <p:cNvPr id="6" name="Shape 4"/>
          <p:cNvSpPr/>
          <p:nvPr/>
        </p:nvSpPr>
        <p:spPr>
          <a:xfrm>
            <a:off x="731520" y="1417320"/>
            <a:ext cx="3291840" cy="3200400"/>
          </a:xfrm>
          <a:prstGeom prst="roundRect">
            <a:avLst>
              <a:gd name="adj" fmla="val 2286"/>
            </a:avLst>
          </a:prstGeom>
          <a:solidFill>
            <a:srgbClr val="EAF2FF"/>
          </a:solidFill>
          <a:ln w="12700">
            <a:solidFill>
              <a:srgbClr val="CFE0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32688" y="1581912"/>
            <a:ext cx="28895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62033"/>
                </a:solidFill>
              </a:rPr>
              <a:t>接下來 3 件事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950976" y="1920240"/>
            <a:ext cx="2852928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8768A"/>
                </a:solidFill>
              </a:rPr>
              <a:t>• 找 3–5 家同產業公司訪談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68768A"/>
                </a:solidFill>
              </a:rPr>
              <a:t>• 收集 100–300 份真實 RFQ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68768A"/>
                </a:solidFill>
              </a:rPr>
              <a:t>• 整理料號表、成本表、歷史報價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4480560" y="1417320"/>
            <a:ext cx="3291840" cy="3200400"/>
          </a:xfrm>
          <a:prstGeom prst="roundRect">
            <a:avLst>
              <a:gd name="adj" fmla="val 2286"/>
            </a:avLst>
          </a:prstGeom>
          <a:solidFill>
            <a:srgbClr val="EAF8F2"/>
          </a:solidFill>
          <a:ln w="12700">
            <a:solidFill>
              <a:srgbClr val="CCECD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681728" y="1581912"/>
            <a:ext cx="28895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62033"/>
                </a:solidFill>
              </a:rPr>
              <a:t>MVP 開發焦點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700016" y="1920240"/>
            <a:ext cx="2852928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8768A"/>
                </a:solidFill>
              </a:rPr>
              <a:t>• Email + Excel BOM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68768A"/>
                </a:solidFill>
              </a:rPr>
              <a:t>• 料號匹配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68768A"/>
                </a:solidFill>
              </a:rPr>
              <a:t>• ERP / 成本查詢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68768A"/>
                </a:solidFill>
              </a:rPr>
              <a:t>• Validation + Draft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68768A"/>
                </a:solidFill>
              </a:rPr>
              <a:t>• ROI Dashboard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8229600" y="1417320"/>
            <a:ext cx="3291840" cy="3200400"/>
          </a:xfrm>
          <a:prstGeom prst="roundRect">
            <a:avLst>
              <a:gd name="adj" fmla="val 2286"/>
            </a:avLst>
          </a:prstGeom>
          <a:solidFill>
            <a:srgbClr val="0E1A2C"/>
          </a:solidFill>
          <a:ln w="12700">
            <a:solidFill>
              <a:srgbClr val="0E1A2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430768" y="1581912"/>
            <a:ext cx="28895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一句話記住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8430768" y="1892808"/>
            <a:ext cx="2889504" cy="2578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CAD7EA"/>
                </a:solidFill>
              </a:rPr>
              <a:t>這不是聊天機器人。</a:t>
            </a:r>
            <a:endParaRPr lang="en-US" sz="850" dirty="0"/>
          </a:p>
          <a:p>
            <a:pPr indent="0" marL="0">
              <a:buNone/>
            </a:pP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CAD7EA"/>
                </a:solidFill>
              </a:rPr>
              <a:t>它是把 B2B 詢價流程整理成可追溯、可審核、可量化 ROI 的工作系統。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Noto Sans CJK TC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Noto Sans CJK TC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RFQ Pilot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RFQ Pilot 專案簡報</dc:title>
  <dc:subject>RFQ Pilot concise project deck</dc:subject>
  <dc:creator>ChatGPT</dc:creator>
  <cp:lastModifiedBy>ChatGPT</cp:lastModifiedBy>
  <cp:revision>1</cp:revision>
  <dcterms:created xsi:type="dcterms:W3CDTF">2026-08-07T10:33:44Z</dcterms:created>
  <dcterms:modified xsi:type="dcterms:W3CDTF">2026-08-07T10:33:44Z</dcterms:modified>
</cp:coreProperties>
</file>