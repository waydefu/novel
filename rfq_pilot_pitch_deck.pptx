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4A6FF"/>
                </a:solidFill>
                <a:latin typeface="Noto Sans CJK TC"/>
              </a:rPr>
              <a:t>RFQ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TC"/>
              </a:rPr>
              <a:t>B2B 詢報價自動化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CDDAEE"/>
                </a:solidFill>
                <a:latin typeface="Noto Sans CJK TC"/>
              </a:rPr>
              <a:t>把 1–3 小時的詢價整理，縮短到 10–20 分鐘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9AB0CF"/>
                </a:solidFill>
                <a:latin typeface="Noto Sans CJK TC"/>
              </a:rPr>
              <a:t>AI 先整理 → 查料號 / ERP → 套規則 → 人工確認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AB0CF"/>
                </a:solidFill>
                <a:latin typeface="Noto Sans CJK TC"/>
              </a:rPr>
              <a:t>2026 專案規劃｜MVP 12 週 + Pilot 4 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市場痛點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58B"/>
                </a:solidFill>
                <a:latin typeface="Noto Sans CJK TC"/>
              </a:rPr>
              <a:t>大量時間花在「還沒成交前」的資料整理。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8132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資料很亂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3154679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Email、Excel、PDF、舊版本混在一起；客戶還會在信裡補一句「只報第 3、5 項」。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182880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8132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查料很慢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47088"/>
            <a:ext cx="3154679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客戶料號不一定等於公司料號，業助要翻 ERP、Excel、舊報價。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73152" cy="1828800"/>
          </a:xfrm>
          <a:prstGeom prst="rect">
            <a:avLst/>
          </a:prstGeom>
          <a:solidFill>
            <a:srgbClr val="D63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48132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報錯很危險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47088"/>
            <a:ext cx="3154679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價格錯一個 0 就可能虧錢，所以 AI 不能直接寄正式報價。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42033"/>
                </a:solidFill>
                <a:latin typeface="Noto Sans CJK TC"/>
              </a:rPr>
              <a:t>真正要自動化的不是「寄信」，而是收到 RFQ 到能開始報價之間的重複整理。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產品解法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58B"/>
                </a:solidFill>
                <a:latin typeface="Noto Sans CJK TC"/>
              </a:rPr>
              <a:t>AI 是副駕，不是最後決策者。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508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0299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46BFE"/>
                </a:solidFill>
                <a:latin typeface="Noto Sans CJK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59152"/>
            <a:ext cx="1325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033"/>
                </a:solidFill>
                <a:latin typeface="Noto Sans CJK TC"/>
              </a:rPr>
              <a:t>收 Email / BOM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8600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8758B"/>
                </a:solidFill>
                <a:latin typeface="Noto Sans CJK T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965960"/>
            <a:ext cx="1508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0299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46BFE"/>
                </a:solidFill>
                <a:latin typeface="Noto Sans CJK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2359152"/>
            <a:ext cx="1325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033"/>
                </a:solidFill>
                <a:latin typeface="Noto Sans CJK TC"/>
              </a:rPr>
              <a:t>AI 讀懂內容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8758B"/>
                </a:solidFill>
                <a:latin typeface="Noto Sans CJK T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58184" y="1965960"/>
            <a:ext cx="1508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0299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46BFE"/>
                </a:solidFill>
                <a:latin typeface="Noto Sans CJK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2359152"/>
            <a:ext cx="1325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033"/>
                </a:solidFill>
                <a:latin typeface="Noto Sans CJK TC"/>
              </a:rPr>
              <a:t>找公司料號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28600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8758B"/>
                </a:solidFill>
                <a:latin typeface="Noto Sans CJK T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85816" y="1965960"/>
            <a:ext cx="1508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20299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46BFE"/>
                </a:solidFill>
                <a:latin typeface="Noto Sans CJK T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6" y="2359152"/>
            <a:ext cx="1325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033"/>
                </a:solidFill>
                <a:latin typeface="Noto Sans CJK TC"/>
              </a:rPr>
              <a:t>查 ERP 成本 / 庫存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28600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8758B"/>
                </a:solidFill>
                <a:latin typeface="Noto Sans CJK T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3448" y="1965960"/>
            <a:ext cx="1508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3176" y="20299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46BFE"/>
                </a:solidFill>
                <a:latin typeface="Noto Sans CJK T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2359152"/>
            <a:ext cx="1325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033"/>
                </a:solidFill>
                <a:latin typeface="Noto Sans CJK TC"/>
              </a:rPr>
              <a:t>套報價規則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228600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8758B"/>
                </a:solidFill>
                <a:latin typeface="Noto Sans CJK T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965960"/>
            <a:ext cx="1508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0808" y="20299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46BFE"/>
                </a:solidFill>
                <a:latin typeface="Noto Sans CJK T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359152"/>
            <a:ext cx="1325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033"/>
                </a:solidFill>
                <a:latin typeface="Noto Sans CJK TC"/>
              </a:rPr>
              <a:t>產生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28600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8758B"/>
                </a:solidFill>
                <a:latin typeface="Noto Sans CJK T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68712" y="1965960"/>
            <a:ext cx="1508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20299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46BFE"/>
                </a:solidFill>
                <a:latin typeface="Noto Sans CJK TC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2359152"/>
            <a:ext cx="1325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033"/>
                </a:solidFill>
                <a:latin typeface="Noto Sans CJK TC"/>
              </a:rPr>
              <a:t>人工確認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6908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D557F"/>
                </a:solidFill>
                <a:latin typeface="Noto Sans CJK TC"/>
              </a:rPr>
              <a:t>LLM 像讀信助理｜ERP 像公司帳本｜Rule Engine 像報價守門員｜Human Review 像最後品管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最小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58B"/>
                </a:solidFill>
                <a:latin typeface="Noto Sans CJK TC"/>
              </a:rPr>
              <a:t>第一版只做能證明 ROI 的核心流程。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420624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9888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第一版要做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4892040" cy="3639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• Email + Excel BOM
• 基本文字 PDF
• 欄位抽取
• Exact / Fuzzy / No Match
• 成本 / 庫存 / MOQ / 交期
• Pricing / Validation
• Quotation Draft
• Human Review / Approval
• Audit /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73152" cy="4206240"/>
          </a:xfrm>
          <a:prstGeom prst="rect">
            <a:avLst/>
          </a:prstGeom>
          <a:solidFill>
            <a:srgbClr val="D63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389888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第一版不做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755648"/>
            <a:ext cx="4892040" cy="3639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• CAD / 工程圖全面辨識
• 手機照片高可靠辨識
• 所有 ERP
• 所有產業
• LLM 自己決定最終售價
• 完全無人報價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正式產品功能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58B"/>
                </a:solidFill>
                <a:latin typeface="Noto Sans CJK TC"/>
              </a:rPr>
              <a:t>不只是 AI 讀文件，而是一套 RFQ 工作系統。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14300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35607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RFQ Inbox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集中詢價與狀態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14300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435607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文件解析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80136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Email / Excel /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73152" cy="114300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435607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料號匹配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80136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Exact / Fuzzy / No 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43200"/>
            <a:ext cx="73152" cy="11430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852928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ERP 查詢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21868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成本 / 庫存 / MOQ / 交期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7432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2743200"/>
            <a:ext cx="73152" cy="11430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2852928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規則引擎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321868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毛利 / 風險 / 核准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7432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743200"/>
            <a:ext cx="73152" cy="11430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2852928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版本追蹤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21868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Rev.A / Rev.B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605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160520"/>
            <a:ext cx="73152" cy="114300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270248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人工覆核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63600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業助 / 主管 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1605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4160520"/>
            <a:ext cx="73152" cy="114300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4270248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稽核紀錄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8" y="463600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誰改了什麼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1605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160520"/>
            <a:ext cx="73152" cy="114300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8" y="4270248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ROI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4636008"/>
            <a:ext cx="31089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省多少工時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16 週專案時程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58B"/>
                </a:solidFill>
                <a:latin typeface="Noto Sans CJK TC"/>
              </a:rPr>
              <a:t>12 週做出可 Pilot 的 MVP，再用 4 週真實試點。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46BFE"/>
                </a:solidFill>
                <a:latin typeface="Noto Sans CJK TC"/>
              </a:rPr>
              <a:t>W1–2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033"/>
                </a:solidFill>
                <a:latin typeface="Noto Sans CJK TC"/>
              </a:rPr>
              <a:t>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80360"/>
            <a:ext cx="16093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8758B"/>
                </a:solidFill>
                <a:latin typeface="Noto Sans CJK TC"/>
              </a:rPr>
              <a:t>流程 / 資料 / ERP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874519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F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9339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F82FF"/>
                </a:solidFill>
                <a:latin typeface="Noto Sans CJK TC"/>
              </a:rPr>
              <a:t>W3–6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77440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033"/>
                </a:solidFill>
                <a:latin typeface="Noto Sans CJK TC"/>
              </a:rPr>
              <a:t>核心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880360"/>
            <a:ext cx="19293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8758B"/>
                </a:solidFill>
                <a:latin typeface="Noto Sans CJK TC"/>
              </a:rPr>
              <a:t>Parser / AI / SKU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874519"/>
            <a:ext cx="1920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8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99339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8A058"/>
                </a:solidFill>
                <a:latin typeface="Noto Sans CJK TC"/>
              </a:rPr>
              <a:t>W7–8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377440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033"/>
                </a:solidFill>
                <a:latin typeface="Noto Sans CJK TC"/>
              </a:rPr>
              <a:t>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880360"/>
            <a:ext cx="17007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8758B"/>
                </a:solidFill>
                <a:latin typeface="Noto Sans CJK TC"/>
              </a:rPr>
              <a:t>ERP / Pricing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874519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9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59" y="1993392"/>
            <a:ext cx="23774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B97900"/>
                </a:solidFill>
                <a:latin typeface="Noto Sans CJK TC"/>
              </a:rPr>
              <a:t>W9–12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2377440"/>
            <a:ext cx="23774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033"/>
                </a:solidFill>
                <a:latin typeface="Noto Sans CJK TC"/>
              </a:rPr>
              <a:t>商用硬化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2880360"/>
            <a:ext cx="23408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8758B"/>
                </a:solidFill>
                <a:latin typeface="Noto Sans CJK TC"/>
              </a:rPr>
              <a:t>Review / QA / Security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74519"/>
            <a:ext cx="2286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9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99339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9D84FF"/>
                </a:solidFill>
                <a:latin typeface="Noto Sans CJK TC"/>
              </a:rPr>
              <a:t>W13–16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37744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033"/>
                </a:solidFill>
                <a:latin typeface="Noto Sans CJK TC"/>
              </a:rP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880360"/>
            <a:ext cx="206654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8758B"/>
                </a:solidFill>
                <a:latin typeface="Noto Sans CJK TC"/>
              </a:rPr>
              <a:t>真實 RFQ / ROI / 修正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D1B2F"/>
                </a:solidFill>
                <a:latin typeface="Noto Sans CJK TC"/>
              </a:rPr>
              <a:t>MVP Gate：Week 12　｜　Pilot Go / No-Go：Week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合理人力配置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58B"/>
                </a:solidFill>
                <a:latin typeface="Noto Sans CJK TC"/>
              </a:rPr>
              <a:t>核心 6 人；Week 9 起加入 DevOps / Security，最高峰 7 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9144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9888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PM / 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把客戶流程變成可驗收規格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73152" cy="9144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389888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AI / 文件工程師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755648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Parser、LLM、評測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23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423160"/>
            <a:ext cx="73152" cy="9144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532888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Backend / ERP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898648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API、資料庫、Connector、Rules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423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423160"/>
            <a:ext cx="73152" cy="9144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532888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898648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業助 Review 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66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566160"/>
            <a:ext cx="73152" cy="9144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75887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QA /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41648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回歸測試、Release 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566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566160"/>
            <a:ext cx="73152" cy="9144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675887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Domain / 導入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041648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製造業規則、Pilot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09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709160"/>
            <a:ext cx="73152" cy="91440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818888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DevOps /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184648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Week 9 起：部署、權限、監控、資安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9788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033"/>
                </a:solidFill>
                <a:latin typeface="Noto Sans CJK TC"/>
              </a:rPr>
              <a:t>探索期 4 人 → 核心開發 6 人 → 商用硬化 / Pilot 7 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為什麼不是 3 人，也不是 10 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58B"/>
                </a:solidFill>
                <a:latin typeface="Noto Sans CJK TC"/>
              </a:rPr>
              <a:t>從風險倒推，而不是單純堆人。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3566160"/>
          </a:xfrm>
          <a:prstGeom prst="rect">
            <a:avLst/>
          </a:prstGeom>
          <a:solidFill>
            <a:srgbClr val="D63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35607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3–4 人：可以 Demo，但商用風險高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01368"/>
            <a:ext cx="4892040" cy="2999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AI 工程師會同時兼 ERP、後端、測試、DevOps；PM 又兼 QA。結果通常是畫面能跑，但資料、權限、回歸測試沒人真正負責。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356616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35607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6–7 人：每個高風險都有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801368"/>
            <a:ext cx="4892040" cy="2999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AI、ERP、UX、QA、Domain、產品、資安各自有人負責；同時仍是小隊，不會因大量會議與交接拖慢。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2033"/>
                </a:solidFill>
                <a:latin typeface="Noto Sans CJK TC"/>
              </a:rPr>
              <a:t>10 人以上要等 Product-Market Fit 更明確後再擴，否則容易過度建設。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商業模式與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58B"/>
                </a:solidFill>
                <a:latin typeface="Noto Sans CJK TC"/>
              </a:rPr>
              <a:t>這是省成本產品，所以「省多少」一定要看得見。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92024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35607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月費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01368"/>
            <a:ext cx="3154679" cy="1353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Starter 約 NT$15,000
Professional 約 NT$35,000
Enterprise 客製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92024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35607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導入收入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01368"/>
            <a:ext cx="3154679" cy="1353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料號、ERP、規則、資料整理：NT$100,000–300,000 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192024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435607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01368"/>
            <a:ext cx="3154679" cy="1353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私有部署、SSO、SLA、複雜 Connector 另外計價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D1B2F"/>
                </a:solidFill>
                <a:latin typeface="Noto Sans CJK TC"/>
              </a:rPr>
              <a:t>ROI 公式：RFQ 筆數 × 每筆節省時間 × 業助人力成本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8758B"/>
                </a:solidFill>
                <a:latin typeface="Noto Sans CJK TC"/>
              </a:rPr>
              <a:t>產品內建 Dashboard，讓續約不再只靠「覺得好用」。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4A6FF"/>
                </a:solidFill>
                <a:latin typeface="Noto Sans CJK T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9260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CJK TC"/>
              </a:rPr>
              <a:t>產品願景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74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10896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2704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0–6 個月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92808"/>
            <a:ext cx="3154679" cy="2542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單一產業
Email + Excel
1–2 個 ERP
Draft + Human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310896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2704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6–12 個月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92808"/>
            <a:ext cx="3154679" cy="2542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更多 PDF / OCR
更多 Connector
Workflow Template
ROI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474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417320"/>
            <a:ext cx="73152" cy="3108960"/>
          </a:xfrm>
          <a:prstGeom prst="rect">
            <a:avLst/>
          </a:prstGeom>
          <a:solidFill>
            <a:srgbClr val="9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52704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2–3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892808"/>
            <a:ext cx="3154679" cy="2542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8758B"/>
                </a:solidFill>
                <a:latin typeface="Noto Sans CJK TC"/>
              </a:rPr>
              <a:t>更多產業 / 國家
歷史價格推薦
多語言 / 多 ERP
RFQ Operating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CJK TC"/>
              </a:rPr>
              <a:t>先窄 → 做準 → 做穩 → 再擴張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